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/>
      <a:tcStyle>
        <a:tcBdr/>
        <a:fill>
          <a:solidFill>
            <a:srgbClr val="E7E9EC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/>
      <a:tcStyle>
        <a:tcBdr/>
        <a:fill>
          <a:solidFill>
            <a:srgbClr val="E7EA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/>
      <a:tcStyle>
        <a:tcBdr/>
        <a:fill>
          <a:solidFill>
            <a:srgbClr val="E8F0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" name="Shape 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Helvetica Neue"/>
      </a:defRPr>
    </a:lvl1pPr>
    <a:lvl2pPr indent="228600" latinLnBrk="0">
      <a:defRPr sz="1200">
        <a:latin typeface="+mj-lt"/>
        <a:ea typeface="+mj-ea"/>
        <a:cs typeface="+mj-cs"/>
        <a:sym typeface="Helvetica Neue"/>
      </a:defRPr>
    </a:lvl2pPr>
    <a:lvl3pPr indent="457200" latinLnBrk="0">
      <a:defRPr sz="1200">
        <a:latin typeface="+mj-lt"/>
        <a:ea typeface="+mj-ea"/>
        <a:cs typeface="+mj-cs"/>
        <a:sym typeface="Helvetica Neue"/>
      </a:defRPr>
    </a:lvl3pPr>
    <a:lvl4pPr indent="685800" latinLnBrk="0">
      <a:defRPr sz="1200">
        <a:latin typeface="+mj-lt"/>
        <a:ea typeface="+mj-ea"/>
        <a:cs typeface="+mj-cs"/>
        <a:sym typeface="Helvetica Neue"/>
      </a:defRPr>
    </a:lvl4pPr>
    <a:lvl5pPr indent="914400" latinLnBrk="0">
      <a:defRPr sz="1200">
        <a:latin typeface="+mj-lt"/>
        <a:ea typeface="+mj-ea"/>
        <a:cs typeface="+mj-cs"/>
        <a:sym typeface="Helvetica Neue"/>
      </a:defRPr>
    </a:lvl5pPr>
    <a:lvl6pPr indent="1143000" latinLnBrk="0">
      <a:defRPr sz="1200">
        <a:latin typeface="+mj-lt"/>
        <a:ea typeface="+mj-ea"/>
        <a:cs typeface="+mj-cs"/>
        <a:sym typeface="Helvetica Neue"/>
      </a:defRPr>
    </a:lvl6pPr>
    <a:lvl7pPr indent="1371600" latinLnBrk="0">
      <a:defRPr sz="1200">
        <a:latin typeface="+mj-lt"/>
        <a:ea typeface="+mj-ea"/>
        <a:cs typeface="+mj-cs"/>
        <a:sym typeface="Helvetica Neue"/>
      </a:defRPr>
    </a:lvl7pPr>
    <a:lvl8pPr indent="1600200" latinLnBrk="0">
      <a:defRPr sz="1200">
        <a:latin typeface="+mj-lt"/>
        <a:ea typeface="+mj-ea"/>
        <a:cs typeface="+mj-cs"/>
        <a:sym typeface="Helvetica Neue"/>
      </a:defRPr>
    </a:lvl8pPr>
    <a:lvl9pPr indent="1828800" latinLnBrk="0">
      <a:defRPr sz="1200">
        <a:latin typeface="+mj-lt"/>
        <a:ea typeface="+mj-ea"/>
        <a:cs typeface="+mj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0" name="Shape 4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Open by naming the capstone problem and the cloud product objective. Keep the title slide uncluttered and clearly identify the individual presenter.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68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9" name="Shape 6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 not start with technology. First make the need clear, then connect it to cloud-enabled scale, reach, or reliability.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3" name="Shape 9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Students should explain the concept map as a reasoning artifact, not as decoration.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7" name="Shape 12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Walk from user request to API, compute, data, storage, analytics, monitoring, and security boundary.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185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6" name="Shape 18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Ask the student to defend provider responsibility and student responsibility for the selected service models.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hape 22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5" name="Shape 22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Big data analytics is optional, but a thoughtful data path is expected.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4" name="Shape 25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If AI is not required, students can present a Python automation or analytics module instead.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Shape 282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83" name="Shape 28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This slide is where students show engineering judgment instead of simply listing services.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Shape 31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12" name="Shape 31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Evidence should be specific and inspectable, not a generic list of tools.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Shape 342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43" name="Shape 34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 storyboard helps the faculty see whether the cloud architecture is connected to actual use.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Shape 377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78" name="Shape 37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Students can use this as the self-check slide before presenting the conclusion.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Shape 40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07" name="Shape 40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 ending should synthesize learning, not just say thank you.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914400" y="1844675"/>
            <a:ext cx="10363200" cy="2041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828800" y="3886200"/>
            <a:ext cx="8534400" cy="2971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1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22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24" name="CO1 AT3 | 01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01</a:t>
            </a:r>
          </a:p>
        </p:txBody>
      </p:sp>
      <p:sp>
        <p:nvSpPr>
          <p:cNvPr id="25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26" name="CSA15 Cloud Computing and Big Data Analytics"/>
          <p:cNvSpPr txBox="1"/>
          <p:nvPr/>
        </p:nvSpPr>
        <p:spPr>
          <a:xfrm>
            <a:off x="769619" y="914400"/>
            <a:ext cx="6671312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600" b="1">
                <a:solidFill>
                  <a:srgbClr val="1F4E79"/>
                </a:solidFill>
              </a:defRPr>
            </a:lvl1pPr>
          </a:lstStyle>
          <a:p>
            <a:r>
              <a:t>CSA15 Cloud Computing and Big Data Analytics</a:t>
            </a:r>
          </a:p>
        </p:txBody>
      </p:sp>
      <p:sp>
        <p:nvSpPr>
          <p:cNvPr id="27" name="Capstone Cloud Technical Presentation"/>
          <p:cNvSpPr txBox="1"/>
          <p:nvPr/>
        </p:nvSpPr>
        <p:spPr>
          <a:xfrm>
            <a:off x="769619" y="2152650"/>
            <a:ext cx="6671312" cy="76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200" b="1">
                <a:solidFill>
                  <a:srgbClr val="2F6690"/>
                </a:solidFill>
              </a:defRPr>
            </a:lvl1pPr>
          </a:lstStyle>
          <a:p>
            <a:r>
              <a:rPr lang="en-US" dirty="0" err="1"/>
              <a:t>SafeWalk</a:t>
            </a:r>
            <a:r>
              <a:rPr lang="en-US" dirty="0"/>
              <a:t> Cloud Route Intelligence Using Crowd Reports and Risk Heatmaps</a:t>
            </a:r>
            <a:endParaRPr dirty="0"/>
          </a:p>
        </p:txBody>
      </p:sp>
      <p:sp>
        <p:nvSpPr>
          <p:cNvPr id="28" name="Individual Student Presentation Deck"/>
          <p:cNvSpPr txBox="1"/>
          <p:nvPr/>
        </p:nvSpPr>
        <p:spPr>
          <a:xfrm>
            <a:off x="769619" y="2762250"/>
            <a:ext cx="5814062" cy="353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700">
                <a:solidFill>
                  <a:srgbClr val="334155"/>
                </a:solidFill>
              </a:defRPr>
            </a:lvl1pPr>
          </a:lstStyle>
          <a:p>
            <a:endParaRPr dirty="0"/>
          </a:p>
        </p:txBody>
      </p:sp>
      <p:sp>
        <p:nvSpPr>
          <p:cNvPr id="29" name="Presenter Details-panel"/>
          <p:cNvSpPr/>
          <p:nvPr/>
        </p:nvSpPr>
        <p:spPr>
          <a:xfrm>
            <a:off x="7524750" y="1143000"/>
            <a:ext cx="3714750" cy="350520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0" name="Presenter Details-bar"/>
          <p:cNvSpPr/>
          <p:nvPr/>
        </p:nvSpPr>
        <p:spPr>
          <a:xfrm>
            <a:off x="7524750" y="1143000"/>
            <a:ext cx="3714750" cy="762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1" name="Presenter Details"/>
          <p:cNvSpPr txBox="1"/>
          <p:nvPr/>
        </p:nvSpPr>
        <p:spPr>
          <a:xfrm>
            <a:off x="7741919" y="1333500"/>
            <a:ext cx="328041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Presenter Details</a:t>
            </a:r>
          </a:p>
        </p:txBody>
      </p:sp>
      <p:sp>
        <p:nvSpPr>
          <p:cNvPr id="32" name="Student Name:…"/>
          <p:cNvSpPr txBox="1"/>
          <p:nvPr/>
        </p:nvSpPr>
        <p:spPr>
          <a:xfrm>
            <a:off x="7741919" y="1733550"/>
            <a:ext cx="3280412" cy="2893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172033"/>
                </a:solidFill>
              </a:defRPr>
            </a:pPr>
            <a:r>
              <a:rPr dirty="0"/>
              <a:t>Student </a:t>
            </a:r>
            <a:r>
              <a:rPr dirty="0" err="1"/>
              <a:t>Name:</a:t>
            </a:r>
            <a:r>
              <a:rPr lang="en-US" dirty="0" err="1"/>
              <a:t>P</a:t>
            </a:r>
            <a:r>
              <a:rPr lang="en-US" dirty="0"/>
              <a:t>. Sujith Reddy</a:t>
            </a:r>
            <a:endParaRPr dirty="0"/>
          </a:p>
          <a:p>
            <a:pPr>
              <a:defRPr sz="1300">
                <a:solidFill>
                  <a:srgbClr val="172033"/>
                </a:solidFill>
              </a:defRPr>
            </a:pPr>
            <a:r>
              <a:rPr dirty="0"/>
              <a:t>Register Number:</a:t>
            </a:r>
            <a:r>
              <a:rPr lang="en-US" dirty="0"/>
              <a:t>192525422</a:t>
            </a:r>
            <a:endParaRPr dirty="0"/>
          </a:p>
          <a:p>
            <a:pPr>
              <a:defRPr sz="1300">
                <a:solidFill>
                  <a:srgbClr val="172033"/>
                </a:solidFill>
              </a:defRPr>
            </a:pPr>
            <a:r>
              <a:rPr dirty="0"/>
              <a:t>Class / Section / </a:t>
            </a:r>
            <a:r>
              <a:rPr dirty="0" err="1"/>
              <a:t>Slot:</a:t>
            </a:r>
            <a:r>
              <a:rPr lang="en-US" dirty="0" err="1"/>
              <a:t>Cloud</a:t>
            </a:r>
            <a:r>
              <a:rPr lang="en-US" dirty="0"/>
              <a:t> computing / B</a:t>
            </a:r>
            <a:endParaRPr dirty="0"/>
          </a:p>
          <a:p>
            <a:pPr>
              <a:defRPr sz="1300">
                <a:solidFill>
                  <a:srgbClr val="172033"/>
                </a:solidFill>
              </a:defRPr>
            </a:pPr>
            <a:r>
              <a:rPr dirty="0"/>
              <a:t>Capstone Title:</a:t>
            </a:r>
            <a:r>
              <a:rPr lang="en-US" dirty="0"/>
              <a:t> </a:t>
            </a:r>
            <a:r>
              <a:rPr lang="en-US" dirty="0" err="1"/>
              <a:t>SafeWalk</a:t>
            </a:r>
            <a:r>
              <a:rPr lang="en-US" dirty="0"/>
              <a:t> Cloud Route Intelligence Using Crowd Reports and Risk Heatmaps</a:t>
            </a:r>
            <a:endParaRPr dirty="0"/>
          </a:p>
          <a:p>
            <a:pPr>
              <a:defRPr sz="1300">
                <a:solidFill>
                  <a:srgbClr val="172033"/>
                </a:solidFill>
              </a:defRPr>
            </a:pPr>
            <a:r>
              <a:rPr dirty="0"/>
              <a:t>Selected SDG Goal(s):</a:t>
            </a:r>
            <a:r>
              <a:rPr lang="en-IN" sz="1300" dirty="0"/>
              <a:t>Sustainable Cities and Communities</a:t>
            </a:r>
            <a:endParaRPr dirty="0"/>
          </a:p>
          <a:p>
            <a:pPr>
              <a:defRPr sz="1300">
                <a:solidFill>
                  <a:srgbClr val="172033"/>
                </a:solidFill>
              </a:defRPr>
            </a:pPr>
            <a:r>
              <a:rPr dirty="0"/>
              <a:t>Cloud Platform / Tools:</a:t>
            </a:r>
            <a:endParaRPr lang="en-US" dirty="0"/>
          </a:p>
          <a:p>
            <a:pPr>
              <a:defRPr sz="1300">
                <a:solidFill>
                  <a:srgbClr val="172033"/>
                </a:solidFill>
              </a:defRPr>
            </a:pPr>
            <a:r>
              <a:rPr lang="en-IN" sz="1300" dirty="0"/>
              <a:t>Firebase</a:t>
            </a:r>
          </a:p>
          <a:p>
            <a:pPr>
              <a:defRPr sz="1300">
                <a:solidFill>
                  <a:srgbClr val="172033"/>
                </a:solidFill>
              </a:defRPr>
            </a:pPr>
            <a:r>
              <a:rPr lang="en-IN" sz="1300" dirty="0"/>
              <a:t>Google Maps API</a:t>
            </a:r>
          </a:p>
          <a:p>
            <a:pPr>
              <a:defRPr sz="1300">
                <a:solidFill>
                  <a:srgbClr val="172033"/>
                </a:solidFill>
              </a:defRPr>
            </a:pPr>
            <a:r>
              <a:rPr lang="en-IN" sz="1300" dirty="0"/>
              <a:t>Google Cloud Platform (or AWS)</a:t>
            </a:r>
          </a:p>
          <a:p>
            <a:pPr>
              <a:defRPr sz="1300">
                <a:solidFill>
                  <a:srgbClr val="172033"/>
                </a:solidFill>
              </a:defRPr>
            </a:pPr>
            <a:r>
              <a:rPr lang="en-IN" sz="1300" dirty="0"/>
              <a:t>Python </a:t>
            </a:r>
          </a:p>
          <a:p>
            <a:pPr>
              <a:defRPr sz="1300">
                <a:solidFill>
                  <a:srgbClr val="172033"/>
                </a:solidFill>
              </a:defRPr>
            </a:pPr>
            <a:r>
              <a:rPr lang="en-IN" sz="1300" dirty="0" err="1"/>
              <a:t>Firestore</a:t>
            </a:r>
            <a:r>
              <a:rPr lang="en-IN" sz="1300" dirty="0"/>
              <a:t> Database</a:t>
            </a:r>
            <a:endParaRPr dirty="0"/>
          </a:p>
        </p:txBody>
      </p:sp>
      <p:sp>
        <p:nvSpPr>
          <p:cNvPr id="33" name="Presentation Focus-panel"/>
          <p:cNvSpPr/>
          <p:nvPr/>
        </p:nvSpPr>
        <p:spPr>
          <a:xfrm>
            <a:off x="723900" y="3714750"/>
            <a:ext cx="6191250" cy="1181100"/>
          </a:xfrm>
          <a:prstGeom prst="roundRect">
            <a:avLst>
              <a:gd name="adj" fmla="val 6452"/>
            </a:avLst>
          </a:prstGeom>
          <a:solidFill>
            <a:srgbClr val="E8F1F8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4" name="Presentation Focus-bar"/>
          <p:cNvSpPr/>
          <p:nvPr/>
        </p:nvSpPr>
        <p:spPr>
          <a:xfrm>
            <a:off x="723900" y="3714750"/>
            <a:ext cx="6191250" cy="762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5" name="Presentation Focus"/>
          <p:cNvSpPr txBox="1"/>
          <p:nvPr/>
        </p:nvSpPr>
        <p:spPr>
          <a:xfrm>
            <a:off x="941069" y="3905250"/>
            <a:ext cx="575691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Presentation Focus</a:t>
            </a:r>
          </a:p>
        </p:txBody>
      </p:sp>
      <p:sp>
        <p:nvSpPr>
          <p:cNvPr id="36" name="Present your capstone as a cloud-backed product. Explain the problem, architecture, service choices, evidence, and CO1 learning clearly."/>
          <p:cNvSpPr txBox="1"/>
          <p:nvPr/>
        </p:nvSpPr>
        <p:spPr>
          <a:xfrm>
            <a:off x="941069" y="4305300"/>
            <a:ext cx="5756912" cy="509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172033"/>
                </a:solidFill>
              </a:defRPr>
            </a:lvl1pPr>
          </a:lstStyle>
          <a:p>
            <a:r>
              <a:t>Present your capstone as a cloud-backed product. Explain the problem, architecture, service choices, evidence, and CO1 learning clearly.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44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45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46" name="CO1 AT3 | 02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02</a:t>
            </a:r>
          </a:p>
        </p:txBody>
      </p:sp>
      <p:sp>
        <p:nvSpPr>
          <p:cNvPr id="47" name="slide-title"/>
          <p:cNvSpPr txBox="1"/>
          <p:nvPr/>
        </p:nvSpPr>
        <p:spPr>
          <a:xfrm>
            <a:off x="655319" y="723900"/>
            <a:ext cx="1088136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rgbClr val="1F4E79"/>
                </a:solidFill>
              </a:defRPr>
            </a:lvl1pPr>
          </a:lstStyle>
          <a:p>
            <a:r>
              <a:t>Problem Context and Stakeholder Mapping</a:t>
            </a:r>
          </a:p>
        </p:txBody>
      </p:sp>
      <p:sp>
        <p:nvSpPr>
          <p:cNvPr id="48" name="slide-subtitle"/>
          <p:cNvSpPr txBox="1"/>
          <p:nvPr/>
        </p:nvSpPr>
        <p:spPr>
          <a:xfrm>
            <a:off x="655319" y="1162050"/>
            <a:ext cx="10881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4155"/>
                </a:solidFill>
              </a:defRPr>
            </a:lvl1pPr>
          </a:lstStyle>
          <a:p>
            <a:r>
              <a:t>Our capstone begins with a real problem to solve</a:t>
            </a:r>
          </a:p>
        </p:txBody>
      </p:sp>
      <p:sp>
        <p:nvSpPr>
          <p:cNvPr id="49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50" name="section-0"/>
          <p:cNvSpPr/>
          <p:nvPr/>
        </p:nvSpPr>
        <p:spPr>
          <a:xfrm>
            <a:off x="7239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51" name="section-accent-0"/>
          <p:cNvSpPr/>
          <p:nvPr/>
        </p:nvSpPr>
        <p:spPr>
          <a:xfrm>
            <a:off x="723900" y="1600200"/>
            <a:ext cx="57150" cy="12573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" name="Problem Statement"/>
          <p:cNvSpPr txBox="1"/>
          <p:nvPr/>
        </p:nvSpPr>
        <p:spPr>
          <a:xfrm>
            <a:off x="998219" y="17907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Problem Statement</a:t>
            </a:r>
          </a:p>
        </p:txBody>
      </p:sp>
      <p:sp>
        <p:nvSpPr>
          <p:cNvPr id="53" name="What real-world problem does the product solve?"/>
          <p:cNvSpPr txBox="1"/>
          <p:nvPr/>
        </p:nvSpPr>
        <p:spPr>
          <a:xfrm>
            <a:off x="1055369" y="2070527"/>
            <a:ext cx="4099562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IN" dirty="0"/>
              <a:t>Many people feel unsafe while walking at night because navigation apps only provide the shortest route, not the safest one. There is no system that uses real-time crowd reports to identify dangerous areas.</a:t>
            </a:r>
            <a:endParaRPr dirty="0"/>
          </a:p>
        </p:txBody>
      </p:sp>
      <p:sp>
        <p:nvSpPr>
          <p:cNvPr id="54" name="section-1"/>
          <p:cNvSpPr/>
          <p:nvPr/>
        </p:nvSpPr>
        <p:spPr>
          <a:xfrm>
            <a:off x="61341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55" name="section-accent-1"/>
          <p:cNvSpPr/>
          <p:nvPr/>
        </p:nvSpPr>
        <p:spPr>
          <a:xfrm>
            <a:off x="6134100" y="1600200"/>
            <a:ext cx="57150" cy="12573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6" name="Target Users"/>
          <p:cNvSpPr txBox="1"/>
          <p:nvPr/>
        </p:nvSpPr>
        <p:spPr>
          <a:xfrm>
            <a:off x="6408419" y="17907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Target Users</a:t>
            </a:r>
          </a:p>
        </p:txBody>
      </p:sp>
      <p:sp>
        <p:nvSpPr>
          <p:cNvPr id="57" name="Who will use the product and what changes for them?"/>
          <p:cNvSpPr txBox="1"/>
          <p:nvPr/>
        </p:nvSpPr>
        <p:spPr>
          <a:xfrm>
            <a:off x="6408419" y="2190750"/>
            <a:ext cx="4099562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IN" dirty="0"/>
              <a:t>Students ,Women ,Night shift employees ,Tourists ,Senior citizens</a:t>
            </a:r>
            <a:endParaRPr dirty="0"/>
          </a:p>
        </p:txBody>
      </p:sp>
      <p:sp>
        <p:nvSpPr>
          <p:cNvPr id="58" name="section-2"/>
          <p:cNvSpPr/>
          <p:nvPr/>
        </p:nvSpPr>
        <p:spPr>
          <a:xfrm>
            <a:off x="7239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59" name="section-accent-2"/>
          <p:cNvSpPr/>
          <p:nvPr/>
        </p:nvSpPr>
        <p:spPr>
          <a:xfrm>
            <a:off x="723900" y="3238500"/>
            <a:ext cx="57150" cy="1257300"/>
          </a:xfrm>
          <a:prstGeom prst="rect">
            <a:avLst/>
          </a:prstGeom>
          <a:solidFill>
            <a:srgbClr val="466A8F"/>
          </a:solidFill>
          <a:ln>
            <a:solidFill>
              <a:srgbClr val="466A8F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0" name="SDG Fit"/>
          <p:cNvSpPr txBox="1"/>
          <p:nvPr/>
        </p:nvSpPr>
        <p:spPr>
          <a:xfrm>
            <a:off x="998219" y="34290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SDG Fit</a:t>
            </a:r>
          </a:p>
        </p:txBody>
      </p:sp>
      <p:sp>
        <p:nvSpPr>
          <p:cNvPr id="61" name="Which SDG goal is connected to the capstone outcome?"/>
          <p:cNvSpPr txBox="1"/>
          <p:nvPr/>
        </p:nvSpPr>
        <p:spPr>
          <a:xfrm>
            <a:off x="998219" y="3829050"/>
            <a:ext cx="4099562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IN" dirty="0"/>
              <a:t>Making cities safer through smart technology.</a:t>
            </a:r>
            <a:endParaRPr dirty="0"/>
          </a:p>
        </p:txBody>
      </p:sp>
      <p:sp>
        <p:nvSpPr>
          <p:cNvPr id="62" name="section-3"/>
          <p:cNvSpPr/>
          <p:nvPr/>
        </p:nvSpPr>
        <p:spPr>
          <a:xfrm>
            <a:off x="6134100" y="3238500"/>
            <a:ext cx="4762500" cy="183729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63" name="section-accent-3"/>
          <p:cNvSpPr/>
          <p:nvPr/>
        </p:nvSpPr>
        <p:spPr>
          <a:xfrm>
            <a:off x="6134100" y="3238500"/>
            <a:ext cx="57150" cy="1257300"/>
          </a:xfrm>
          <a:prstGeom prst="rect">
            <a:avLst/>
          </a:prstGeom>
          <a:solidFill>
            <a:srgbClr val="7C95AD"/>
          </a:solidFill>
          <a:ln>
            <a:solidFill>
              <a:srgbClr val="7C95AD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4" name="Product Boundary"/>
          <p:cNvSpPr txBox="1"/>
          <p:nvPr/>
        </p:nvSpPr>
        <p:spPr>
          <a:xfrm>
            <a:off x="6408419" y="34290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Product Boundary</a:t>
            </a:r>
          </a:p>
        </p:txBody>
      </p:sp>
      <p:sp>
        <p:nvSpPr>
          <p:cNvPr id="65" name="What is included in the first usable version?"/>
          <p:cNvSpPr txBox="1"/>
          <p:nvPr/>
        </p:nvSpPr>
        <p:spPr>
          <a:xfrm>
            <a:off x="6408419" y="3829050"/>
            <a:ext cx="4099562" cy="1384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IN" dirty="0"/>
              <a:t>Version 1 includes:</a:t>
            </a:r>
          </a:p>
          <a:p>
            <a:r>
              <a:rPr lang="en-IN" dirty="0"/>
              <a:t>User Login </a:t>
            </a:r>
          </a:p>
          <a:p>
            <a:r>
              <a:rPr lang="en-IN" dirty="0"/>
              <a:t>Crowd Incident Reporting </a:t>
            </a:r>
          </a:p>
          <a:p>
            <a:r>
              <a:rPr lang="en-IN" dirty="0"/>
              <a:t>Risk Heatmap </a:t>
            </a:r>
          </a:p>
          <a:p>
            <a:r>
              <a:rPr lang="en-IN" dirty="0"/>
              <a:t>Safe Route Recommendation </a:t>
            </a:r>
          </a:p>
          <a:p>
            <a:r>
              <a:rPr lang="en-IN" dirty="0"/>
              <a:t>Cloud Storage</a:t>
            </a:r>
          </a:p>
          <a:p>
            <a:endParaRPr dirty="0"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72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73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74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75" name="CO1 AT3 | 03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03</a:t>
            </a:r>
          </a:p>
        </p:txBody>
      </p:sp>
      <p:sp>
        <p:nvSpPr>
          <p:cNvPr id="76" name="slide-title"/>
          <p:cNvSpPr txBox="1"/>
          <p:nvPr/>
        </p:nvSpPr>
        <p:spPr>
          <a:xfrm>
            <a:off x="655319" y="723900"/>
            <a:ext cx="1088136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rgbClr val="1F4E79"/>
                </a:solidFill>
              </a:defRPr>
            </a:lvl1pPr>
          </a:lstStyle>
          <a:p>
            <a:r>
              <a:t>Cloud Adoption Rationale and Concept Map</a:t>
            </a:r>
          </a:p>
        </p:txBody>
      </p:sp>
      <p:sp>
        <p:nvSpPr>
          <p:cNvPr id="77" name="slide-subtitle"/>
          <p:cNvSpPr txBox="1"/>
          <p:nvPr/>
        </p:nvSpPr>
        <p:spPr>
          <a:xfrm>
            <a:off x="655319" y="1162050"/>
            <a:ext cx="10881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4155"/>
                </a:solidFill>
              </a:defRPr>
            </a:lvl1pPr>
          </a:lstStyle>
          <a:p>
            <a:r>
              <a:t>The problem needs cloud support to become a usable product</a:t>
            </a:r>
          </a:p>
        </p:txBody>
      </p:sp>
      <p:sp>
        <p:nvSpPr>
          <p:cNvPr id="78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79" name="Cloud Definition-panel"/>
          <p:cNvSpPr/>
          <p:nvPr/>
        </p:nvSpPr>
        <p:spPr>
          <a:xfrm>
            <a:off x="7239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EEF2F6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 dirty="0"/>
          </a:p>
        </p:txBody>
      </p:sp>
      <p:sp>
        <p:nvSpPr>
          <p:cNvPr id="80" name="Cloud Definition-bar"/>
          <p:cNvSpPr/>
          <p:nvPr/>
        </p:nvSpPr>
        <p:spPr>
          <a:xfrm>
            <a:off x="723900" y="1600200"/>
            <a:ext cx="4762500" cy="762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81" name="Cloud Definition"/>
          <p:cNvSpPr txBox="1"/>
          <p:nvPr/>
        </p:nvSpPr>
        <p:spPr>
          <a:xfrm>
            <a:off x="941069" y="1790700"/>
            <a:ext cx="43281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Cloud Definition</a:t>
            </a:r>
          </a:p>
        </p:txBody>
      </p:sp>
      <p:sp>
        <p:nvSpPr>
          <p:cNvPr id="82" name="Define cloud using your capstone context."/>
          <p:cNvSpPr txBox="1"/>
          <p:nvPr/>
        </p:nvSpPr>
        <p:spPr>
          <a:xfrm>
            <a:off x="941069" y="2190750"/>
            <a:ext cx="4328162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IN" dirty="0"/>
              <a:t>Cloud computing stores and processes data on remote servers, allowing </a:t>
            </a:r>
            <a:r>
              <a:rPr lang="en-IN" dirty="0" err="1"/>
              <a:t>SafeWalk</a:t>
            </a:r>
            <a:r>
              <a:rPr lang="en-IN" dirty="0"/>
              <a:t> to provide real-time route updates.</a:t>
            </a:r>
            <a:endParaRPr lang="en-US" dirty="0"/>
          </a:p>
        </p:txBody>
      </p:sp>
      <p:sp>
        <p:nvSpPr>
          <p:cNvPr id="83" name="Cloud Characteristics-panel"/>
          <p:cNvSpPr/>
          <p:nvPr/>
        </p:nvSpPr>
        <p:spPr>
          <a:xfrm>
            <a:off x="7239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84" name="Cloud Characteristics-bar"/>
          <p:cNvSpPr/>
          <p:nvPr/>
        </p:nvSpPr>
        <p:spPr>
          <a:xfrm>
            <a:off x="723900" y="3238500"/>
            <a:ext cx="4762500" cy="762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85" name="Cloud Characteristics"/>
          <p:cNvSpPr txBox="1"/>
          <p:nvPr/>
        </p:nvSpPr>
        <p:spPr>
          <a:xfrm>
            <a:off x="941069" y="3429000"/>
            <a:ext cx="43281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rPr dirty="0"/>
              <a:t>Cloud Characteristics</a:t>
            </a:r>
          </a:p>
        </p:txBody>
      </p:sp>
      <p:sp>
        <p:nvSpPr>
          <p:cNvPr id="86" name="Elasticity, scalability, measured service, resource pooling."/>
          <p:cNvSpPr txBox="1"/>
          <p:nvPr/>
        </p:nvSpPr>
        <p:spPr>
          <a:xfrm>
            <a:off x="941069" y="3829050"/>
            <a:ext cx="4328162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IN" dirty="0"/>
              <a:t>Scalability, Elasticity ,Resource Pooling, Measured Service, On-demand Access</a:t>
            </a:r>
            <a:endParaRPr dirty="0"/>
          </a:p>
        </p:txBody>
      </p:sp>
      <p:sp>
        <p:nvSpPr>
          <p:cNvPr id="87" name="Cloud Concept Map-placeholder"/>
          <p:cNvSpPr/>
          <p:nvPr/>
        </p:nvSpPr>
        <p:spPr>
          <a:xfrm>
            <a:off x="6134100" y="1600200"/>
            <a:ext cx="4762500" cy="2895600"/>
          </a:xfrm>
          <a:prstGeom prst="roundRect">
            <a:avLst>
              <a:gd name="adj" fmla="val 2632"/>
            </a:avLst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88" name="Cloud Concept Map"/>
          <p:cNvSpPr txBox="1"/>
          <p:nvPr/>
        </p:nvSpPr>
        <p:spPr>
          <a:xfrm>
            <a:off x="6351269" y="1771650"/>
            <a:ext cx="43281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500" b="1">
                <a:solidFill>
                  <a:srgbClr val="1F4E79"/>
                </a:solidFill>
              </a:defRPr>
            </a:lvl1pPr>
          </a:lstStyle>
          <a:p>
            <a:r>
              <a:t>Cloud Concept Map</a:t>
            </a:r>
          </a:p>
        </p:txBody>
      </p:sp>
      <p:sp>
        <p:nvSpPr>
          <p:cNvPr id="89" name="Place a clean concept map that links cloud ecosystem, API role, service models, elasticity, and your capstone modules."/>
          <p:cNvSpPr txBox="1"/>
          <p:nvPr/>
        </p:nvSpPr>
        <p:spPr>
          <a:xfrm>
            <a:off x="6351269" y="2190750"/>
            <a:ext cx="4328162" cy="292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64748B"/>
                </a:solidFill>
              </a:defRPr>
            </a:lvl1pPr>
          </a:lstStyle>
          <a:p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FDC47F-27AF-9E8D-147B-3DF8701A0D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4100" y="2137946"/>
            <a:ext cx="4762500" cy="2336512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96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97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98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99" name="CO1 AT3 | 04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04</a:t>
            </a:r>
          </a:p>
        </p:txBody>
      </p:sp>
      <p:sp>
        <p:nvSpPr>
          <p:cNvPr id="100" name="slide-title"/>
          <p:cNvSpPr txBox="1"/>
          <p:nvPr/>
        </p:nvSpPr>
        <p:spPr>
          <a:xfrm>
            <a:off x="655319" y="723900"/>
            <a:ext cx="1088136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rgbClr val="1F4E79"/>
                </a:solidFill>
              </a:defRPr>
            </a:lvl1pPr>
          </a:lstStyle>
          <a:p>
            <a:r>
              <a:t>Capstone Cloud Architecture</a:t>
            </a:r>
          </a:p>
        </p:txBody>
      </p:sp>
      <p:sp>
        <p:nvSpPr>
          <p:cNvPr id="101" name="slide-subtitle"/>
          <p:cNvSpPr txBox="1"/>
          <p:nvPr/>
        </p:nvSpPr>
        <p:spPr>
          <a:xfrm>
            <a:off x="655319" y="1162050"/>
            <a:ext cx="10881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4155"/>
                </a:solidFill>
              </a:defRPr>
            </a:lvl1pPr>
          </a:lstStyle>
          <a:p>
            <a:r>
              <a:t>Our cloud architecture connects the user action to services</a:t>
            </a:r>
          </a:p>
        </p:txBody>
      </p:sp>
      <p:sp>
        <p:nvSpPr>
          <p:cNvPr id="102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103" name="node-User App / Web App"/>
          <p:cNvSpPr/>
          <p:nvPr/>
        </p:nvSpPr>
        <p:spPr>
          <a:xfrm>
            <a:off x="1047750" y="2095500"/>
            <a:ext cx="1809750" cy="263945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>
            <a:solidFill>
              <a:srgbClr val="2F6690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04" name="User App / Web App"/>
          <p:cNvSpPr txBox="1"/>
          <p:nvPr/>
        </p:nvSpPr>
        <p:spPr>
          <a:xfrm>
            <a:off x="1207769" y="2333625"/>
            <a:ext cx="1489712" cy="2492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300" b="1">
                <a:solidFill>
                  <a:srgbClr val="1F4E79"/>
                </a:solidFill>
              </a:defRPr>
            </a:lvl1pPr>
          </a:lstStyle>
          <a:p>
            <a:r>
              <a:rPr dirty="0"/>
              <a:t>User App / Web App</a:t>
            </a:r>
            <a:endParaRPr lang="en-US" dirty="0"/>
          </a:p>
          <a:p>
            <a:r>
              <a:rPr lang="en-IN" dirty="0"/>
              <a:t>User opens the </a:t>
            </a:r>
            <a:r>
              <a:rPr lang="en-IN" dirty="0" err="1"/>
              <a:t>SafeWalk</a:t>
            </a:r>
            <a:r>
              <a:rPr lang="en-IN" dirty="0"/>
              <a:t> app.</a:t>
            </a:r>
          </a:p>
          <a:p>
            <a:r>
              <a:rPr lang="en-IN" dirty="0"/>
              <a:t> Logs in to the application</a:t>
            </a:r>
          </a:p>
          <a:p>
            <a:r>
              <a:rPr lang="en-IN" dirty="0"/>
              <a:t>. Enters the destination. Reports unsafe place</a:t>
            </a:r>
          </a:p>
          <a:p>
            <a:r>
              <a:rPr lang="en-IN" dirty="0"/>
              <a:t>s. Views the safest route.</a:t>
            </a:r>
            <a:endParaRPr dirty="0"/>
          </a:p>
        </p:txBody>
      </p:sp>
      <p:sp>
        <p:nvSpPr>
          <p:cNvPr id="105" name="node-Auth + API Gateway"/>
          <p:cNvSpPr/>
          <p:nvPr/>
        </p:nvSpPr>
        <p:spPr>
          <a:xfrm>
            <a:off x="3476625" y="2095500"/>
            <a:ext cx="1809750" cy="21526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>
            <a:solidFill>
              <a:srgbClr val="2F6690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06" name="Auth + API Gateway"/>
          <p:cNvSpPr txBox="1"/>
          <p:nvPr/>
        </p:nvSpPr>
        <p:spPr>
          <a:xfrm>
            <a:off x="3636644" y="2333625"/>
            <a:ext cx="1489712" cy="18928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300" b="1">
                <a:solidFill>
                  <a:srgbClr val="1F4E79"/>
                </a:solidFill>
              </a:defRPr>
            </a:lvl1pPr>
          </a:lstStyle>
          <a:p>
            <a:r>
              <a:rPr dirty="0"/>
              <a:t>Auth + API Gateway</a:t>
            </a:r>
            <a:endParaRPr lang="en-US" dirty="0"/>
          </a:p>
          <a:p>
            <a:r>
              <a:rPr lang="en-IN" dirty="0"/>
              <a:t>Checks the user's login</a:t>
            </a:r>
          </a:p>
          <a:p>
            <a:r>
              <a:rPr lang="en-IN" dirty="0"/>
              <a:t>. Sends the user's request to the server securely</a:t>
            </a:r>
          </a:p>
          <a:p>
            <a:r>
              <a:rPr lang="en-IN" dirty="0"/>
              <a:t>. Protects the application from unauthorized users</a:t>
            </a:r>
            <a:endParaRPr dirty="0"/>
          </a:p>
        </p:txBody>
      </p:sp>
      <p:sp>
        <p:nvSpPr>
          <p:cNvPr id="107" name="node-Backend Services"/>
          <p:cNvSpPr/>
          <p:nvPr/>
        </p:nvSpPr>
        <p:spPr>
          <a:xfrm>
            <a:off x="5905500" y="669255"/>
            <a:ext cx="1809750" cy="2171701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>
            <a:solidFill>
              <a:srgbClr val="2F6690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08" name="Backend Services"/>
          <p:cNvSpPr txBox="1"/>
          <p:nvPr/>
        </p:nvSpPr>
        <p:spPr>
          <a:xfrm>
            <a:off x="6077898" y="1044601"/>
            <a:ext cx="1489712" cy="1492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300" b="1">
                <a:solidFill>
                  <a:srgbClr val="1F4E79"/>
                </a:solidFill>
              </a:defRPr>
            </a:lvl1pPr>
          </a:lstStyle>
          <a:p>
            <a:r>
              <a:rPr dirty="0"/>
              <a:t>Backend Services</a:t>
            </a:r>
            <a:r>
              <a:rPr lang="en-US" dirty="0"/>
              <a:t>:</a:t>
            </a:r>
          </a:p>
          <a:p>
            <a:r>
              <a:rPr lang="en-IN" dirty="0"/>
              <a:t>Receives the user's request</a:t>
            </a:r>
          </a:p>
          <a:p>
            <a:r>
              <a:rPr lang="en-IN" dirty="0"/>
              <a:t>. Calculates the safest route. Processes crowd reports.</a:t>
            </a:r>
            <a:endParaRPr dirty="0"/>
          </a:p>
        </p:txBody>
      </p:sp>
      <p:sp>
        <p:nvSpPr>
          <p:cNvPr id="109" name="node-Database / Storage"/>
          <p:cNvSpPr/>
          <p:nvPr/>
        </p:nvSpPr>
        <p:spPr>
          <a:xfrm>
            <a:off x="8334375" y="2095500"/>
            <a:ext cx="1809750" cy="1557894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>
            <a:solidFill>
              <a:srgbClr val="2F6690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10" name="Database / Storage"/>
          <p:cNvSpPr txBox="1"/>
          <p:nvPr/>
        </p:nvSpPr>
        <p:spPr>
          <a:xfrm>
            <a:off x="8494394" y="2333625"/>
            <a:ext cx="1489712" cy="1292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300" b="1">
                <a:solidFill>
                  <a:srgbClr val="1F4E79"/>
                </a:solidFill>
              </a:defRPr>
            </a:lvl1pPr>
          </a:lstStyle>
          <a:p>
            <a:r>
              <a:rPr dirty="0"/>
              <a:t>Database / Storage</a:t>
            </a:r>
            <a:endParaRPr lang="en-US" dirty="0"/>
          </a:p>
          <a:p>
            <a:r>
              <a:rPr lang="en-IN" dirty="0"/>
              <a:t>Stores user information. Stores crowd reports. Stores location details.</a:t>
            </a:r>
            <a:endParaRPr dirty="0"/>
          </a:p>
        </p:txBody>
      </p:sp>
      <p:sp>
        <p:nvSpPr>
          <p:cNvPr id="111" name="node-Analytics + Monitoring"/>
          <p:cNvSpPr/>
          <p:nvPr/>
        </p:nvSpPr>
        <p:spPr>
          <a:xfrm>
            <a:off x="5650231" y="3730908"/>
            <a:ext cx="1809750" cy="2017162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>
            <a:solidFill>
              <a:srgbClr val="2F6690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12" name="Analytics + Monitoring"/>
          <p:cNvSpPr txBox="1"/>
          <p:nvPr/>
        </p:nvSpPr>
        <p:spPr>
          <a:xfrm>
            <a:off x="5854063" y="3855244"/>
            <a:ext cx="1489712" cy="18928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300" b="1">
                <a:solidFill>
                  <a:srgbClr val="1F4E79"/>
                </a:solidFill>
              </a:defRPr>
            </a:lvl1pPr>
          </a:lstStyle>
          <a:p>
            <a:r>
              <a:rPr dirty="0"/>
              <a:t>Analytics + Monitoring</a:t>
            </a:r>
            <a:endParaRPr lang="en-US" dirty="0"/>
          </a:p>
          <a:p>
            <a:r>
              <a:rPr lang="en-IN" dirty="0" err="1"/>
              <a:t>Analyzes</a:t>
            </a:r>
            <a:r>
              <a:rPr lang="en-IN" dirty="0"/>
              <a:t> reported unsafe areas. Updates the risk heatmap</a:t>
            </a:r>
          </a:p>
          <a:p>
            <a:r>
              <a:rPr lang="en-IN" dirty="0"/>
              <a:t>. Monitors application performance.</a:t>
            </a:r>
            <a:endParaRPr dirty="0"/>
          </a:p>
        </p:txBody>
      </p:sp>
      <p:sp>
        <p:nvSpPr>
          <p:cNvPr id="113" name="connector-0"/>
          <p:cNvSpPr/>
          <p:nvPr/>
        </p:nvSpPr>
        <p:spPr>
          <a:xfrm>
            <a:off x="2857500" y="2495550"/>
            <a:ext cx="619125" cy="1905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14" name="connector-1"/>
          <p:cNvSpPr/>
          <p:nvPr/>
        </p:nvSpPr>
        <p:spPr>
          <a:xfrm>
            <a:off x="5286375" y="2495550"/>
            <a:ext cx="619125" cy="1905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15" name="connector-2"/>
          <p:cNvSpPr/>
          <p:nvPr/>
        </p:nvSpPr>
        <p:spPr>
          <a:xfrm>
            <a:off x="7715250" y="2495550"/>
            <a:ext cx="619125" cy="1905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16" name="connector-3"/>
          <p:cNvSpPr/>
          <p:nvPr/>
        </p:nvSpPr>
        <p:spPr>
          <a:xfrm>
            <a:off x="6781800" y="2895600"/>
            <a:ext cx="19050" cy="81915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18" name="Security boundary"/>
          <p:cNvSpPr txBox="1"/>
          <p:nvPr/>
        </p:nvSpPr>
        <p:spPr>
          <a:xfrm>
            <a:off x="3522344" y="3067050"/>
            <a:ext cx="657606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64748B"/>
                </a:solidFill>
              </a:defRPr>
            </a:lvl1pPr>
          </a:lstStyle>
          <a:p>
            <a:r>
              <a:t>Security boundary</a:t>
            </a:r>
          </a:p>
        </p:txBody>
      </p:sp>
      <p:sp>
        <p:nvSpPr>
          <p:cNvPr id="119" name="security-line"/>
          <p:cNvSpPr/>
          <p:nvPr/>
        </p:nvSpPr>
        <p:spPr>
          <a:xfrm>
            <a:off x="3286125" y="3333750"/>
            <a:ext cx="7048500" cy="19050"/>
          </a:xfrm>
          <a:prstGeom prst="rect">
            <a:avLst/>
          </a:prstGeom>
          <a:solidFill>
            <a:srgbClr val="B7C9D9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20" name="Presentation Points-panel"/>
          <p:cNvSpPr/>
          <p:nvPr/>
        </p:nvSpPr>
        <p:spPr>
          <a:xfrm>
            <a:off x="8907781" y="1663651"/>
            <a:ext cx="2381250" cy="3596158"/>
          </a:xfrm>
          <a:prstGeom prst="roundRect">
            <a:avLst>
              <a:gd name="adj" fmla="val 3200"/>
            </a:avLst>
          </a:prstGeom>
          <a:solidFill>
            <a:srgbClr val="EEF2F6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21" name="Presentation Points-bar"/>
          <p:cNvSpPr/>
          <p:nvPr/>
        </p:nvSpPr>
        <p:spPr>
          <a:xfrm>
            <a:off x="8858250" y="1632258"/>
            <a:ext cx="2381250" cy="762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22" name="Presentation Points"/>
          <p:cNvSpPr txBox="1"/>
          <p:nvPr/>
        </p:nvSpPr>
        <p:spPr>
          <a:xfrm>
            <a:off x="9075419" y="1771650"/>
            <a:ext cx="194691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Presentation Points</a:t>
            </a:r>
          </a:p>
        </p:txBody>
      </p:sp>
      <p:sp>
        <p:nvSpPr>
          <p:cNvPr id="123" name="Request path…"/>
          <p:cNvSpPr txBox="1"/>
          <p:nvPr/>
        </p:nvSpPr>
        <p:spPr>
          <a:xfrm>
            <a:off x="9075419" y="2171700"/>
            <a:ext cx="1946912" cy="3093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172033"/>
                </a:solidFill>
              </a:defRPr>
            </a:pPr>
            <a:r>
              <a:rPr dirty="0"/>
              <a:t>Request path</a:t>
            </a:r>
            <a:r>
              <a:rPr lang="en-US" dirty="0"/>
              <a:t>:</a:t>
            </a:r>
          </a:p>
          <a:p>
            <a:pPr>
              <a:defRPr sz="1300">
                <a:solidFill>
                  <a:srgbClr val="172033"/>
                </a:solidFill>
              </a:defRPr>
            </a:pPr>
            <a:r>
              <a:rPr lang="en-IN" sz="1300" dirty="0"/>
              <a:t>User → App → API → Database → AI → Route</a:t>
            </a:r>
            <a:endParaRPr dirty="0"/>
          </a:p>
          <a:p>
            <a:pPr>
              <a:defRPr sz="1300">
                <a:solidFill>
                  <a:srgbClr val="172033"/>
                </a:solidFill>
              </a:defRPr>
            </a:pPr>
            <a:r>
              <a:rPr dirty="0"/>
              <a:t>API role</a:t>
            </a:r>
            <a:r>
              <a:rPr lang="en-US" dirty="0"/>
              <a:t>:</a:t>
            </a:r>
          </a:p>
          <a:p>
            <a:pPr>
              <a:defRPr sz="1300">
                <a:solidFill>
                  <a:srgbClr val="172033"/>
                </a:solidFill>
              </a:defRPr>
            </a:pPr>
            <a:r>
              <a:rPr lang="en-IN" sz="1300" dirty="0"/>
              <a:t>Google Maps API calculates navigation.</a:t>
            </a:r>
            <a:endParaRPr dirty="0"/>
          </a:p>
          <a:p>
            <a:pPr>
              <a:defRPr sz="1300">
                <a:solidFill>
                  <a:srgbClr val="172033"/>
                </a:solidFill>
              </a:defRPr>
            </a:pPr>
            <a:r>
              <a:rPr dirty="0"/>
              <a:t>Compute choice</a:t>
            </a:r>
            <a:r>
              <a:rPr lang="en-US" dirty="0"/>
              <a:t>:</a:t>
            </a:r>
          </a:p>
          <a:p>
            <a:pPr>
              <a:defRPr sz="1300">
                <a:solidFill>
                  <a:srgbClr val="172033"/>
                </a:solidFill>
              </a:defRPr>
            </a:pPr>
            <a:r>
              <a:rPr lang="en-IN" sz="1300" dirty="0"/>
              <a:t>Python Backend</a:t>
            </a:r>
            <a:endParaRPr dirty="0"/>
          </a:p>
          <a:p>
            <a:pPr>
              <a:defRPr sz="1300">
                <a:solidFill>
                  <a:srgbClr val="172033"/>
                </a:solidFill>
              </a:defRPr>
            </a:pPr>
            <a:r>
              <a:rPr dirty="0"/>
              <a:t>Database and storage</a:t>
            </a:r>
            <a:r>
              <a:rPr lang="en-US" dirty="0"/>
              <a:t>:</a:t>
            </a:r>
            <a:br>
              <a:rPr lang="en-US" dirty="0"/>
            </a:br>
            <a:r>
              <a:rPr lang="en-IN" sz="1300" dirty="0" err="1"/>
              <a:t>Firestore</a:t>
            </a:r>
            <a:endParaRPr dirty="0"/>
          </a:p>
          <a:p>
            <a:pPr>
              <a:defRPr sz="1300">
                <a:solidFill>
                  <a:srgbClr val="172033"/>
                </a:solidFill>
              </a:defRPr>
            </a:pPr>
            <a:r>
              <a:rPr dirty="0"/>
              <a:t>Monitoring and security</a:t>
            </a:r>
            <a:r>
              <a:rPr lang="en-US" dirty="0"/>
              <a:t>:</a:t>
            </a:r>
          </a:p>
          <a:p>
            <a:pPr>
              <a:defRPr sz="1300">
                <a:solidFill>
                  <a:srgbClr val="172033"/>
                </a:solidFill>
              </a:defRPr>
            </a:pPr>
            <a:r>
              <a:rPr lang="en-IN" sz="1300" dirty="0"/>
              <a:t>Firebase Analytics</a:t>
            </a:r>
            <a:endParaRPr dirty="0"/>
          </a:p>
          <a:p>
            <a:pPr>
              <a:defRPr sz="1300">
                <a:solidFill>
                  <a:srgbClr val="172033"/>
                </a:solidFill>
              </a:defRPr>
            </a:pPr>
            <a:r>
              <a:rPr dirty="0"/>
              <a:t>Scaling point</a:t>
            </a:r>
            <a:r>
              <a:rPr lang="en-US" dirty="0"/>
              <a:t>:</a:t>
            </a:r>
          </a:p>
          <a:p>
            <a:pPr>
              <a:defRPr sz="1300">
                <a:solidFill>
                  <a:srgbClr val="172033"/>
                </a:solidFill>
              </a:defRPr>
            </a:pPr>
            <a:r>
              <a:rPr lang="en-IN" sz="1300" dirty="0"/>
              <a:t>Firebase Authentication</a:t>
            </a:r>
          </a:p>
          <a:p>
            <a:pPr>
              <a:defRPr sz="1300">
                <a:solidFill>
                  <a:srgbClr val="172033"/>
                </a:solidFill>
              </a:defRPr>
            </a:pPr>
            <a:endParaRPr dirty="0"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30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131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133" name="CO1 AT3 | 05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05</a:t>
            </a:r>
          </a:p>
        </p:txBody>
      </p:sp>
      <p:sp>
        <p:nvSpPr>
          <p:cNvPr id="134" name="slide-title"/>
          <p:cNvSpPr txBox="1"/>
          <p:nvPr/>
        </p:nvSpPr>
        <p:spPr>
          <a:xfrm>
            <a:off x="655319" y="723900"/>
            <a:ext cx="1088136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rgbClr val="1F4E79"/>
                </a:solidFill>
              </a:defRPr>
            </a:lvl1pPr>
          </a:lstStyle>
          <a:p>
            <a:r>
              <a:t>Cloud Service Model Responsibility Matrix</a:t>
            </a:r>
          </a:p>
        </p:txBody>
      </p:sp>
      <p:sp>
        <p:nvSpPr>
          <p:cNvPr id="135" name="slide-subtitle"/>
          <p:cNvSpPr txBox="1"/>
          <p:nvPr/>
        </p:nvSpPr>
        <p:spPr>
          <a:xfrm>
            <a:off x="655319" y="1162050"/>
            <a:ext cx="10881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4155"/>
                </a:solidFill>
              </a:defRPr>
            </a:lvl1pPr>
          </a:lstStyle>
          <a:p>
            <a:r>
              <a:t>Each service model defines what we control and what cloud manages</a:t>
            </a:r>
          </a:p>
        </p:txBody>
      </p:sp>
      <p:sp>
        <p:nvSpPr>
          <p:cNvPr id="136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137" name="matrix-h-0"/>
          <p:cNvSpPr/>
          <p:nvPr/>
        </p:nvSpPr>
        <p:spPr>
          <a:xfrm>
            <a:off x="723900" y="1809750"/>
            <a:ext cx="1714500" cy="4953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38" name="Service area"/>
          <p:cNvSpPr txBox="1"/>
          <p:nvPr/>
        </p:nvSpPr>
        <p:spPr>
          <a:xfrm>
            <a:off x="845819" y="1971675"/>
            <a:ext cx="14706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r>
              <a:t>Service area</a:t>
            </a:r>
          </a:p>
        </p:txBody>
      </p:sp>
      <p:sp>
        <p:nvSpPr>
          <p:cNvPr id="139" name="matrix-h-1"/>
          <p:cNvSpPr/>
          <p:nvPr/>
        </p:nvSpPr>
        <p:spPr>
          <a:xfrm>
            <a:off x="2438400" y="1809750"/>
            <a:ext cx="1143000" cy="4953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40" name="Model"/>
          <p:cNvSpPr txBox="1"/>
          <p:nvPr/>
        </p:nvSpPr>
        <p:spPr>
          <a:xfrm>
            <a:off x="2560319" y="1971675"/>
            <a:ext cx="8991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r>
              <a:t>Model</a:t>
            </a:r>
          </a:p>
        </p:txBody>
      </p:sp>
      <p:sp>
        <p:nvSpPr>
          <p:cNvPr id="141" name="matrix-h-2"/>
          <p:cNvSpPr/>
          <p:nvPr/>
        </p:nvSpPr>
        <p:spPr>
          <a:xfrm>
            <a:off x="3581400" y="1809750"/>
            <a:ext cx="2286000" cy="4953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42" name="Provider manages"/>
          <p:cNvSpPr txBox="1"/>
          <p:nvPr/>
        </p:nvSpPr>
        <p:spPr>
          <a:xfrm>
            <a:off x="3703319" y="1971675"/>
            <a:ext cx="20421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r>
              <a:t>Provider manages</a:t>
            </a:r>
          </a:p>
        </p:txBody>
      </p:sp>
      <p:sp>
        <p:nvSpPr>
          <p:cNvPr id="143" name="matrix-h-3"/>
          <p:cNvSpPr/>
          <p:nvPr/>
        </p:nvSpPr>
        <p:spPr>
          <a:xfrm>
            <a:off x="5867400" y="1809750"/>
            <a:ext cx="2381250" cy="4953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44" name="Student team manages"/>
          <p:cNvSpPr txBox="1"/>
          <p:nvPr/>
        </p:nvSpPr>
        <p:spPr>
          <a:xfrm>
            <a:off x="5989319" y="1971675"/>
            <a:ext cx="213741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r>
              <a:t>Student team manages</a:t>
            </a:r>
          </a:p>
        </p:txBody>
      </p:sp>
      <p:sp>
        <p:nvSpPr>
          <p:cNvPr id="145" name="matrix-h-4"/>
          <p:cNvSpPr/>
          <p:nvPr/>
        </p:nvSpPr>
        <p:spPr>
          <a:xfrm>
            <a:off x="8248650" y="1809750"/>
            <a:ext cx="2476500" cy="4953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46" name="Why this fits"/>
          <p:cNvSpPr txBox="1"/>
          <p:nvPr/>
        </p:nvSpPr>
        <p:spPr>
          <a:xfrm>
            <a:off x="8370569" y="1971675"/>
            <a:ext cx="22326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r>
              <a:t>Why this fits</a:t>
            </a:r>
          </a:p>
        </p:txBody>
      </p:sp>
      <p:sp>
        <p:nvSpPr>
          <p:cNvPr id="147" name="matrix-0-0"/>
          <p:cNvSpPr/>
          <p:nvPr/>
        </p:nvSpPr>
        <p:spPr>
          <a:xfrm>
            <a:off x="723900" y="2305050"/>
            <a:ext cx="171450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48" name="Frontend hosting"/>
          <p:cNvSpPr txBox="1"/>
          <p:nvPr/>
        </p:nvSpPr>
        <p:spPr>
          <a:xfrm>
            <a:off x="845819" y="2457450"/>
            <a:ext cx="14706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000" b="1">
                <a:solidFill>
                  <a:srgbClr val="1F4E79"/>
                </a:solidFill>
              </a:defRPr>
            </a:lvl1pPr>
          </a:lstStyle>
          <a:p>
            <a:r>
              <a:t>Frontend hosting</a:t>
            </a:r>
          </a:p>
        </p:txBody>
      </p:sp>
      <p:sp>
        <p:nvSpPr>
          <p:cNvPr id="149" name="matrix-0-1"/>
          <p:cNvSpPr/>
          <p:nvPr/>
        </p:nvSpPr>
        <p:spPr>
          <a:xfrm>
            <a:off x="2453390" y="2305050"/>
            <a:ext cx="114300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r>
              <a:rPr lang="en-IN"/>
              <a:t>SaaS</a:t>
            </a:r>
            <a:endParaRPr/>
          </a:p>
        </p:txBody>
      </p:sp>
      <p:sp>
        <p:nvSpPr>
          <p:cNvPr id="150" name="matrix-0-2"/>
          <p:cNvSpPr/>
          <p:nvPr/>
        </p:nvSpPr>
        <p:spPr>
          <a:xfrm>
            <a:off x="3596390" y="2305050"/>
            <a:ext cx="228600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r>
              <a:rPr lang="en-IN"/>
              <a:t>Firebase Hosting</a:t>
            </a:r>
            <a:endParaRPr/>
          </a:p>
        </p:txBody>
      </p:sp>
      <p:sp>
        <p:nvSpPr>
          <p:cNvPr id="151" name="matrix-0-3"/>
          <p:cNvSpPr/>
          <p:nvPr/>
        </p:nvSpPr>
        <p:spPr>
          <a:xfrm>
            <a:off x="5867400" y="2305050"/>
            <a:ext cx="238125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r>
              <a:rPr lang="en-IN"/>
              <a:t>UI Design</a:t>
            </a:r>
            <a:endParaRPr/>
          </a:p>
        </p:txBody>
      </p:sp>
      <p:sp>
        <p:nvSpPr>
          <p:cNvPr id="152" name="matrix-0-4"/>
          <p:cNvSpPr/>
          <p:nvPr/>
        </p:nvSpPr>
        <p:spPr>
          <a:xfrm>
            <a:off x="8248650" y="2305050"/>
            <a:ext cx="247650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r>
              <a:rPr lang="en-IN"/>
              <a:t>Easy deployment</a:t>
            </a:r>
            <a:endParaRPr/>
          </a:p>
        </p:txBody>
      </p:sp>
      <p:sp>
        <p:nvSpPr>
          <p:cNvPr id="153" name="matrix-1-0"/>
          <p:cNvSpPr/>
          <p:nvPr/>
        </p:nvSpPr>
        <p:spPr>
          <a:xfrm>
            <a:off x="723900" y="2800350"/>
            <a:ext cx="17145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54" name="Backend/API"/>
          <p:cNvSpPr txBox="1"/>
          <p:nvPr/>
        </p:nvSpPr>
        <p:spPr>
          <a:xfrm>
            <a:off x="845819" y="2952750"/>
            <a:ext cx="14706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000" b="1">
                <a:solidFill>
                  <a:srgbClr val="1F4E79"/>
                </a:solidFill>
              </a:defRPr>
            </a:lvl1pPr>
          </a:lstStyle>
          <a:p>
            <a:r>
              <a:t>Backend/API</a:t>
            </a:r>
          </a:p>
        </p:txBody>
      </p:sp>
      <p:sp>
        <p:nvSpPr>
          <p:cNvPr id="155" name="matrix-1-1"/>
          <p:cNvSpPr/>
          <p:nvPr/>
        </p:nvSpPr>
        <p:spPr>
          <a:xfrm>
            <a:off x="2438400" y="2800350"/>
            <a:ext cx="11430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r>
              <a:rPr lang="en-IN"/>
              <a:t>SaaS</a:t>
            </a:r>
            <a:endParaRPr/>
          </a:p>
        </p:txBody>
      </p:sp>
      <p:sp>
        <p:nvSpPr>
          <p:cNvPr id="156" name="matrix-1-2"/>
          <p:cNvSpPr/>
          <p:nvPr/>
        </p:nvSpPr>
        <p:spPr>
          <a:xfrm>
            <a:off x="3581400" y="2800350"/>
            <a:ext cx="22860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r>
              <a:rPr lang="en-IN"/>
              <a:t>Firebase</a:t>
            </a:r>
            <a:endParaRPr/>
          </a:p>
        </p:txBody>
      </p:sp>
      <p:sp>
        <p:nvSpPr>
          <p:cNvPr id="157" name="matrix-1-3"/>
          <p:cNvSpPr/>
          <p:nvPr/>
        </p:nvSpPr>
        <p:spPr>
          <a:xfrm>
            <a:off x="5867400" y="2800350"/>
            <a:ext cx="238125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r>
              <a:rPr lang="en-IN"/>
              <a:t>User Login</a:t>
            </a:r>
            <a:endParaRPr/>
          </a:p>
        </p:txBody>
      </p:sp>
      <p:sp>
        <p:nvSpPr>
          <p:cNvPr id="158" name="matrix-1-4"/>
          <p:cNvSpPr/>
          <p:nvPr/>
        </p:nvSpPr>
        <p:spPr>
          <a:xfrm>
            <a:off x="8248650" y="2800350"/>
            <a:ext cx="24765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r>
              <a:rPr lang="en-IN"/>
              <a:t>Secure identity</a:t>
            </a:r>
            <a:endParaRPr/>
          </a:p>
        </p:txBody>
      </p:sp>
      <p:sp>
        <p:nvSpPr>
          <p:cNvPr id="159" name="matrix-2-0"/>
          <p:cNvSpPr/>
          <p:nvPr/>
        </p:nvSpPr>
        <p:spPr>
          <a:xfrm>
            <a:off x="723900" y="3295650"/>
            <a:ext cx="171450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60" name="Database"/>
          <p:cNvSpPr txBox="1"/>
          <p:nvPr/>
        </p:nvSpPr>
        <p:spPr>
          <a:xfrm>
            <a:off x="845819" y="3448050"/>
            <a:ext cx="14706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000" b="1">
                <a:solidFill>
                  <a:srgbClr val="1F4E79"/>
                </a:solidFill>
              </a:defRPr>
            </a:lvl1pPr>
          </a:lstStyle>
          <a:p>
            <a:r>
              <a:t>Database</a:t>
            </a:r>
          </a:p>
        </p:txBody>
      </p:sp>
      <p:sp>
        <p:nvSpPr>
          <p:cNvPr id="161" name="matrix-2-1"/>
          <p:cNvSpPr/>
          <p:nvPr/>
        </p:nvSpPr>
        <p:spPr>
          <a:xfrm>
            <a:off x="2438400" y="3295650"/>
            <a:ext cx="114300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r>
              <a:rPr lang="en-IN"/>
              <a:t>PaaS</a:t>
            </a:r>
            <a:endParaRPr/>
          </a:p>
        </p:txBody>
      </p:sp>
      <p:sp>
        <p:nvSpPr>
          <p:cNvPr id="162" name="matrix-2-2"/>
          <p:cNvSpPr/>
          <p:nvPr/>
        </p:nvSpPr>
        <p:spPr>
          <a:xfrm>
            <a:off x="3581400" y="3295650"/>
            <a:ext cx="228600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r>
              <a:rPr lang="en-IN" dirty="0"/>
              <a:t>Cloud Run</a:t>
            </a:r>
            <a:endParaRPr dirty="0"/>
          </a:p>
        </p:txBody>
      </p:sp>
      <p:sp>
        <p:nvSpPr>
          <p:cNvPr id="163" name="matrix-2-3"/>
          <p:cNvSpPr/>
          <p:nvPr/>
        </p:nvSpPr>
        <p:spPr>
          <a:xfrm>
            <a:off x="5867400" y="3295650"/>
            <a:ext cx="238125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r>
              <a:rPr lang="en-IN" dirty="0"/>
              <a:t>Python APIs</a:t>
            </a:r>
            <a:endParaRPr dirty="0"/>
          </a:p>
        </p:txBody>
      </p:sp>
      <p:sp>
        <p:nvSpPr>
          <p:cNvPr id="164" name="matrix-2-4"/>
          <p:cNvSpPr/>
          <p:nvPr/>
        </p:nvSpPr>
        <p:spPr>
          <a:xfrm>
            <a:off x="8248650" y="3295650"/>
            <a:ext cx="247650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r>
              <a:rPr lang="en-IN" dirty="0"/>
              <a:t>Auto scaling</a:t>
            </a:r>
            <a:endParaRPr dirty="0"/>
          </a:p>
        </p:txBody>
      </p:sp>
      <p:sp>
        <p:nvSpPr>
          <p:cNvPr id="165" name="matrix-3-0"/>
          <p:cNvSpPr/>
          <p:nvPr/>
        </p:nvSpPr>
        <p:spPr>
          <a:xfrm>
            <a:off x="723900" y="3790950"/>
            <a:ext cx="17145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66" name="Storage"/>
          <p:cNvSpPr txBox="1"/>
          <p:nvPr/>
        </p:nvSpPr>
        <p:spPr>
          <a:xfrm>
            <a:off x="845819" y="3943350"/>
            <a:ext cx="14706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000" b="1">
                <a:solidFill>
                  <a:srgbClr val="1F4E79"/>
                </a:solidFill>
              </a:defRPr>
            </a:lvl1pPr>
          </a:lstStyle>
          <a:p>
            <a:r>
              <a:t>Storage</a:t>
            </a:r>
          </a:p>
        </p:txBody>
      </p:sp>
      <p:sp>
        <p:nvSpPr>
          <p:cNvPr id="167" name="matrix-3-1"/>
          <p:cNvSpPr/>
          <p:nvPr/>
        </p:nvSpPr>
        <p:spPr>
          <a:xfrm>
            <a:off x="2438400" y="3790950"/>
            <a:ext cx="11430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r>
              <a:rPr lang="en-IN"/>
              <a:t>DBaaS</a:t>
            </a:r>
            <a:endParaRPr/>
          </a:p>
        </p:txBody>
      </p:sp>
      <p:sp>
        <p:nvSpPr>
          <p:cNvPr id="168" name="matrix-3-2"/>
          <p:cNvSpPr/>
          <p:nvPr/>
        </p:nvSpPr>
        <p:spPr>
          <a:xfrm>
            <a:off x="3581400" y="3790950"/>
            <a:ext cx="22860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r>
              <a:rPr lang="en-IN" dirty="0" err="1"/>
              <a:t>Firestore</a:t>
            </a:r>
            <a:endParaRPr dirty="0"/>
          </a:p>
        </p:txBody>
      </p:sp>
      <p:sp>
        <p:nvSpPr>
          <p:cNvPr id="169" name="matrix-3-3"/>
          <p:cNvSpPr/>
          <p:nvPr/>
        </p:nvSpPr>
        <p:spPr>
          <a:xfrm>
            <a:off x="5867400" y="3790950"/>
            <a:ext cx="238125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r>
              <a:rPr lang="en-IN"/>
              <a:t>Data Model</a:t>
            </a:r>
            <a:endParaRPr/>
          </a:p>
        </p:txBody>
      </p:sp>
      <p:sp>
        <p:nvSpPr>
          <p:cNvPr id="170" name="matrix-3-4"/>
          <p:cNvSpPr/>
          <p:nvPr/>
        </p:nvSpPr>
        <p:spPr>
          <a:xfrm>
            <a:off x="8248650" y="3790950"/>
            <a:ext cx="24765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r>
              <a:rPr lang="en-IN"/>
              <a:t>Real-time storage</a:t>
            </a:r>
            <a:endParaRPr/>
          </a:p>
        </p:txBody>
      </p:sp>
      <p:sp>
        <p:nvSpPr>
          <p:cNvPr id="171" name="matrix-4-0"/>
          <p:cNvSpPr/>
          <p:nvPr/>
        </p:nvSpPr>
        <p:spPr>
          <a:xfrm>
            <a:off x="723900" y="4286250"/>
            <a:ext cx="171450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72" name="Monitoring / logs"/>
          <p:cNvSpPr txBox="1"/>
          <p:nvPr/>
        </p:nvSpPr>
        <p:spPr>
          <a:xfrm>
            <a:off x="845819" y="4438650"/>
            <a:ext cx="14706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000" b="1">
                <a:solidFill>
                  <a:srgbClr val="1F4E79"/>
                </a:solidFill>
              </a:defRPr>
            </a:lvl1pPr>
          </a:lstStyle>
          <a:p>
            <a:r>
              <a:t>Monitoring / logs</a:t>
            </a:r>
          </a:p>
        </p:txBody>
      </p:sp>
      <p:sp>
        <p:nvSpPr>
          <p:cNvPr id="173" name="matrix-4-1"/>
          <p:cNvSpPr/>
          <p:nvPr/>
        </p:nvSpPr>
        <p:spPr>
          <a:xfrm>
            <a:off x="2438400" y="4286250"/>
            <a:ext cx="114300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r>
              <a:rPr lang="en-IN" dirty="0"/>
              <a:t>IaaS			</a:t>
            </a:r>
            <a:endParaRPr dirty="0"/>
          </a:p>
        </p:txBody>
      </p:sp>
      <p:sp>
        <p:nvSpPr>
          <p:cNvPr id="174" name="matrix-4-2"/>
          <p:cNvSpPr/>
          <p:nvPr/>
        </p:nvSpPr>
        <p:spPr>
          <a:xfrm>
            <a:off x="3581400" y="4286250"/>
            <a:ext cx="228600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r>
              <a:rPr lang="en-IN"/>
              <a:t>Cloud Storage</a:t>
            </a:r>
            <a:endParaRPr/>
          </a:p>
        </p:txBody>
      </p:sp>
      <p:sp>
        <p:nvSpPr>
          <p:cNvPr id="175" name="matrix-4-3"/>
          <p:cNvSpPr/>
          <p:nvPr/>
        </p:nvSpPr>
        <p:spPr>
          <a:xfrm>
            <a:off x="5867400" y="4286250"/>
            <a:ext cx="238125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r>
              <a:rPr lang="en-IN"/>
              <a:t>Images &amp; Reports</a:t>
            </a:r>
            <a:endParaRPr/>
          </a:p>
        </p:txBody>
      </p:sp>
      <p:sp>
        <p:nvSpPr>
          <p:cNvPr id="176" name="matrix-4-4"/>
          <p:cNvSpPr/>
          <p:nvPr/>
        </p:nvSpPr>
        <p:spPr>
          <a:xfrm>
            <a:off x="8248650" y="4286250"/>
            <a:ext cx="247650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r>
              <a:rPr lang="en-IN"/>
              <a:t>Reliable storage</a:t>
            </a:r>
            <a:endParaRPr/>
          </a:p>
        </p:txBody>
      </p:sp>
      <p:sp>
        <p:nvSpPr>
          <p:cNvPr id="177" name="matrix-5-0"/>
          <p:cNvSpPr/>
          <p:nvPr/>
        </p:nvSpPr>
        <p:spPr>
          <a:xfrm>
            <a:off x="723900" y="4781550"/>
            <a:ext cx="17145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78" name="Security / IAM"/>
          <p:cNvSpPr txBox="1"/>
          <p:nvPr/>
        </p:nvSpPr>
        <p:spPr>
          <a:xfrm>
            <a:off x="845819" y="4933950"/>
            <a:ext cx="14706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000" b="1">
                <a:solidFill>
                  <a:srgbClr val="1F4E79"/>
                </a:solidFill>
              </a:defRPr>
            </a:lvl1pPr>
          </a:lstStyle>
          <a:p>
            <a:r>
              <a:t>Security / IAM</a:t>
            </a:r>
          </a:p>
        </p:txBody>
      </p:sp>
      <p:sp>
        <p:nvSpPr>
          <p:cNvPr id="179" name="matrix-5-1"/>
          <p:cNvSpPr/>
          <p:nvPr/>
        </p:nvSpPr>
        <p:spPr>
          <a:xfrm>
            <a:off x="2438400" y="4781550"/>
            <a:ext cx="11430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r>
              <a:rPr lang="en-IN"/>
              <a:t>SaaS</a:t>
            </a:r>
            <a:endParaRPr/>
          </a:p>
        </p:txBody>
      </p:sp>
      <p:sp>
        <p:nvSpPr>
          <p:cNvPr id="180" name="matrix-5-2"/>
          <p:cNvSpPr/>
          <p:nvPr/>
        </p:nvSpPr>
        <p:spPr>
          <a:xfrm>
            <a:off x="3581400" y="4781550"/>
            <a:ext cx="22860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r>
              <a:rPr lang="en-IN"/>
              <a:t>Firebase Analytics</a:t>
            </a:r>
            <a:endParaRPr/>
          </a:p>
        </p:txBody>
      </p:sp>
      <p:sp>
        <p:nvSpPr>
          <p:cNvPr id="181" name="matrix-5-3"/>
          <p:cNvSpPr/>
          <p:nvPr/>
        </p:nvSpPr>
        <p:spPr>
          <a:xfrm>
            <a:off x="5867400" y="4781550"/>
            <a:ext cx="238125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r>
              <a:rPr lang="en-IN" dirty="0"/>
              <a:t>Report Analysis</a:t>
            </a:r>
            <a:endParaRPr dirty="0"/>
          </a:p>
        </p:txBody>
      </p:sp>
      <p:sp>
        <p:nvSpPr>
          <p:cNvPr id="182" name="matrix-5-4"/>
          <p:cNvSpPr/>
          <p:nvPr/>
        </p:nvSpPr>
        <p:spPr>
          <a:xfrm>
            <a:off x="8248650" y="4781550"/>
            <a:ext cx="24765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r>
              <a:rPr lang="en-IN" dirty="0"/>
              <a:t>Usage insights</a:t>
            </a:r>
            <a:endParaRPr dirty="0"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89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190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191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192" name="CO1 AT3 | 06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06</a:t>
            </a:r>
          </a:p>
        </p:txBody>
      </p:sp>
      <p:sp>
        <p:nvSpPr>
          <p:cNvPr id="193" name="slide-title"/>
          <p:cNvSpPr txBox="1"/>
          <p:nvPr/>
        </p:nvSpPr>
        <p:spPr>
          <a:xfrm>
            <a:off x="655319" y="723900"/>
            <a:ext cx="1088136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rgbClr val="1F4E79"/>
                </a:solidFill>
              </a:defRPr>
            </a:lvl1pPr>
          </a:lstStyle>
          <a:p>
            <a:r>
              <a:t>Data Flow and Analytics Pipeline</a:t>
            </a:r>
          </a:p>
        </p:txBody>
      </p:sp>
      <p:sp>
        <p:nvSpPr>
          <p:cNvPr id="194" name="slide-subtitle"/>
          <p:cNvSpPr txBox="1"/>
          <p:nvPr/>
        </p:nvSpPr>
        <p:spPr>
          <a:xfrm>
            <a:off x="655319" y="1162050"/>
            <a:ext cx="10881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4155"/>
                </a:solidFill>
              </a:defRPr>
            </a:lvl1pPr>
          </a:lstStyle>
          <a:p>
            <a:r>
              <a:t>The product data moves from user activity to useful insight</a:t>
            </a:r>
          </a:p>
        </p:txBody>
      </p:sp>
      <p:sp>
        <p:nvSpPr>
          <p:cNvPr id="195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196" name="flow-0"/>
          <p:cNvSpPr/>
          <p:nvPr/>
        </p:nvSpPr>
        <p:spPr>
          <a:xfrm>
            <a:off x="1066800" y="1695450"/>
            <a:ext cx="1352550" cy="1485900"/>
          </a:xfrm>
          <a:prstGeom prst="roundRect">
            <a:avLst>
              <a:gd name="adj" fmla="val 12121"/>
            </a:avLst>
          </a:prstGeom>
          <a:solidFill>
            <a:srgbClr val="E8F1F8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97" name="Collect"/>
          <p:cNvSpPr txBox="1"/>
          <p:nvPr/>
        </p:nvSpPr>
        <p:spPr>
          <a:xfrm>
            <a:off x="902969" y="1725311"/>
            <a:ext cx="1592581" cy="1692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 sz="1300" b="1">
                <a:solidFill>
                  <a:srgbClr val="1F4E79"/>
                </a:solidFill>
              </a:defRPr>
            </a:lvl1pPr>
          </a:lstStyle>
          <a:p>
            <a:r>
              <a:rPr lang="en-IN" dirty="0"/>
              <a:t>Data Collection</a:t>
            </a:r>
          </a:p>
          <a:p>
            <a:r>
              <a:rPr lang="en-IN" dirty="0"/>
              <a:t>GPS Location </a:t>
            </a:r>
          </a:p>
          <a:p>
            <a:r>
              <a:rPr lang="en-IN" dirty="0"/>
              <a:t>User ID </a:t>
            </a:r>
          </a:p>
          <a:p>
            <a:r>
              <a:rPr lang="en-IN" dirty="0"/>
              <a:t>Incident Type </a:t>
            </a:r>
          </a:p>
          <a:p>
            <a:r>
              <a:rPr lang="en-IN" dirty="0"/>
              <a:t>Time </a:t>
            </a:r>
          </a:p>
          <a:p>
            <a:r>
              <a:rPr lang="en-IN" dirty="0"/>
              <a:t>Description </a:t>
            </a:r>
          </a:p>
          <a:p>
            <a:r>
              <a:rPr lang="en-IN" dirty="0"/>
              <a:t>Image</a:t>
            </a:r>
          </a:p>
          <a:p>
            <a:endParaRPr dirty="0"/>
          </a:p>
        </p:txBody>
      </p:sp>
      <p:sp>
        <p:nvSpPr>
          <p:cNvPr id="198" name="flow-line-0"/>
          <p:cNvSpPr/>
          <p:nvPr/>
        </p:nvSpPr>
        <p:spPr>
          <a:xfrm>
            <a:off x="2495550" y="2000250"/>
            <a:ext cx="51435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99" name="flow-1"/>
          <p:cNvSpPr/>
          <p:nvPr/>
        </p:nvSpPr>
        <p:spPr>
          <a:xfrm>
            <a:off x="3048000" y="1420252"/>
            <a:ext cx="1352550" cy="1847851"/>
          </a:xfrm>
          <a:prstGeom prst="roundRect">
            <a:avLst>
              <a:gd name="adj" fmla="val 12121"/>
            </a:avLst>
          </a:prstGeom>
          <a:solidFill>
            <a:srgbClr val="EEF2F6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 dirty="0"/>
          </a:p>
        </p:txBody>
      </p:sp>
      <p:sp>
        <p:nvSpPr>
          <p:cNvPr id="200" name="Ingest"/>
          <p:cNvSpPr txBox="1"/>
          <p:nvPr/>
        </p:nvSpPr>
        <p:spPr>
          <a:xfrm>
            <a:off x="3227069" y="1530594"/>
            <a:ext cx="994412" cy="18928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300" b="1">
                <a:solidFill>
                  <a:srgbClr val="1F4E79"/>
                </a:solidFill>
              </a:defRPr>
            </a:lvl1pPr>
          </a:lstStyle>
          <a:p>
            <a:r>
              <a:rPr lang="en-IN" dirty="0"/>
              <a:t>Ingestion</a:t>
            </a:r>
          </a:p>
          <a:p>
            <a:r>
              <a:rPr lang="en-IN" dirty="0"/>
              <a:t>REST API</a:t>
            </a:r>
          </a:p>
          <a:p>
            <a:r>
              <a:rPr lang="en-IN" dirty="0"/>
              <a:t>The app sends the collected data to the cloud using a REST API.</a:t>
            </a:r>
          </a:p>
          <a:p>
            <a:endParaRPr lang="en-IN" dirty="0"/>
          </a:p>
        </p:txBody>
      </p:sp>
      <p:sp>
        <p:nvSpPr>
          <p:cNvPr id="201" name="flow-line-1"/>
          <p:cNvSpPr/>
          <p:nvPr/>
        </p:nvSpPr>
        <p:spPr>
          <a:xfrm>
            <a:off x="4476750" y="2000250"/>
            <a:ext cx="51435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02" name="flow-2"/>
          <p:cNvSpPr/>
          <p:nvPr/>
        </p:nvSpPr>
        <p:spPr>
          <a:xfrm>
            <a:off x="5029200" y="1386117"/>
            <a:ext cx="1352550" cy="1619250"/>
          </a:xfrm>
          <a:prstGeom prst="roundRect">
            <a:avLst>
              <a:gd name="adj" fmla="val 12121"/>
            </a:avLst>
          </a:prstGeom>
          <a:solidFill>
            <a:srgbClr val="E8F1F8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03" name="Store"/>
          <p:cNvSpPr txBox="1"/>
          <p:nvPr/>
        </p:nvSpPr>
        <p:spPr>
          <a:xfrm>
            <a:off x="5227589" y="1559514"/>
            <a:ext cx="994412" cy="1492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300" b="1">
                <a:solidFill>
                  <a:srgbClr val="1F4E79"/>
                </a:solidFill>
              </a:defRPr>
            </a:lvl1pPr>
          </a:lstStyle>
          <a:p>
            <a:r>
              <a:rPr lang="en-IN" dirty="0"/>
              <a:t>Cloud </a:t>
            </a:r>
            <a:r>
              <a:rPr lang="en-IN" dirty="0" err="1"/>
              <a:t>Firestore</a:t>
            </a:r>
            <a:endParaRPr lang="en-IN" dirty="0"/>
          </a:p>
          <a:p>
            <a:r>
              <a:rPr lang="en-IN" dirty="0"/>
              <a:t>User Details Crowd Reports Location Data</a:t>
            </a:r>
          </a:p>
        </p:txBody>
      </p:sp>
      <p:sp>
        <p:nvSpPr>
          <p:cNvPr id="204" name="flow-line-2"/>
          <p:cNvSpPr/>
          <p:nvPr/>
        </p:nvSpPr>
        <p:spPr>
          <a:xfrm>
            <a:off x="6457950" y="2000250"/>
            <a:ext cx="51435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05" name="flow-3"/>
          <p:cNvSpPr/>
          <p:nvPr/>
        </p:nvSpPr>
        <p:spPr>
          <a:xfrm>
            <a:off x="7048500" y="1272316"/>
            <a:ext cx="1352550" cy="1775683"/>
          </a:xfrm>
          <a:prstGeom prst="roundRect">
            <a:avLst>
              <a:gd name="adj" fmla="val 12121"/>
            </a:avLst>
          </a:prstGeom>
          <a:solidFill>
            <a:srgbClr val="EEF2F6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06" name="Process"/>
          <p:cNvSpPr txBox="1"/>
          <p:nvPr/>
        </p:nvSpPr>
        <p:spPr>
          <a:xfrm>
            <a:off x="7223757" y="1402446"/>
            <a:ext cx="994412" cy="18928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300" b="1">
                <a:solidFill>
                  <a:srgbClr val="1F4E79"/>
                </a:solidFill>
              </a:defRPr>
            </a:lvl1pPr>
          </a:lstStyle>
          <a:p>
            <a:r>
              <a:rPr lang="en-IN" dirty="0"/>
              <a:t>Process</a:t>
            </a:r>
          </a:p>
          <a:p>
            <a:r>
              <a:rPr lang="en-IN" dirty="0"/>
              <a:t>Checks the reported locations. Calculates the risk level. Finds the safest route.</a:t>
            </a:r>
            <a:endParaRPr dirty="0"/>
          </a:p>
        </p:txBody>
      </p:sp>
      <p:sp>
        <p:nvSpPr>
          <p:cNvPr id="207" name="flow-line-3"/>
          <p:cNvSpPr/>
          <p:nvPr/>
        </p:nvSpPr>
        <p:spPr>
          <a:xfrm>
            <a:off x="8439150" y="2000250"/>
            <a:ext cx="51435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08" name="flow-4"/>
          <p:cNvSpPr/>
          <p:nvPr/>
        </p:nvSpPr>
        <p:spPr>
          <a:xfrm>
            <a:off x="8991600" y="1695450"/>
            <a:ext cx="1352550" cy="628650"/>
          </a:xfrm>
          <a:prstGeom prst="roundRect">
            <a:avLst>
              <a:gd name="adj" fmla="val 12121"/>
            </a:avLst>
          </a:prstGeom>
          <a:solidFill>
            <a:srgbClr val="E8F1F8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09" name="Visualize"/>
          <p:cNvSpPr txBox="1"/>
          <p:nvPr/>
        </p:nvSpPr>
        <p:spPr>
          <a:xfrm>
            <a:off x="9170669" y="1905000"/>
            <a:ext cx="994412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300" b="1">
                <a:solidFill>
                  <a:srgbClr val="1F4E79"/>
                </a:solidFill>
              </a:defRPr>
            </a:lvl1pPr>
          </a:lstStyle>
          <a:p>
            <a:r>
              <a:rPr dirty="0"/>
              <a:t>Visualize</a:t>
            </a:r>
            <a:endParaRPr lang="en-US" dirty="0"/>
          </a:p>
          <a:p>
            <a:endParaRPr dirty="0"/>
          </a:p>
        </p:txBody>
      </p:sp>
      <p:sp>
        <p:nvSpPr>
          <p:cNvPr id="210" name="Data Requirements-panel"/>
          <p:cNvSpPr/>
          <p:nvPr/>
        </p:nvSpPr>
        <p:spPr>
          <a:xfrm>
            <a:off x="723900" y="3238500"/>
            <a:ext cx="3143250" cy="1200150"/>
          </a:xfrm>
          <a:prstGeom prst="roundRect">
            <a:avLst>
              <a:gd name="adj" fmla="val 6349"/>
            </a:avLst>
          </a:prstGeom>
          <a:solidFill>
            <a:srgbClr val="EEF2F6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11" name="Data Requirements-bar"/>
          <p:cNvSpPr/>
          <p:nvPr/>
        </p:nvSpPr>
        <p:spPr>
          <a:xfrm>
            <a:off x="723900" y="3238500"/>
            <a:ext cx="3143250" cy="762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12" name="Data Requirements"/>
          <p:cNvSpPr txBox="1"/>
          <p:nvPr/>
        </p:nvSpPr>
        <p:spPr>
          <a:xfrm>
            <a:off x="941069" y="3429000"/>
            <a:ext cx="270891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Data Requirements</a:t>
            </a:r>
          </a:p>
        </p:txBody>
      </p:sp>
      <p:sp>
        <p:nvSpPr>
          <p:cNvPr id="213" name="User data, events, logs, files, sensor data, or transactions."/>
          <p:cNvSpPr txBox="1"/>
          <p:nvPr/>
        </p:nvSpPr>
        <p:spPr>
          <a:xfrm>
            <a:off x="941069" y="3829050"/>
            <a:ext cx="2708912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IN" dirty="0"/>
              <a:t>User Location ,Crowd Reports, GPS Data, Time ,Incident Information</a:t>
            </a:r>
          </a:p>
        </p:txBody>
      </p:sp>
      <p:sp>
        <p:nvSpPr>
          <p:cNvPr id="214" name="Analytics Requirement-panel"/>
          <p:cNvSpPr/>
          <p:nvPr/>
        </p:nvSpPr>
        <p:spPr>
          <a:xfrm>
            <a:off x="4362450" y="3238500"/>
            <a:ext cx="314325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 dirty="0"/>
          </a:p>
        </p:txBody>
      </p:sp>
      <p:sp>
        <p:nvSpPr>
          <p:cNvPr id="215" name="Analytics Requirement-bar"/>
          <p:cNvSpPr/>
          <p:nvPr/>
        </p:nvSpPr>
        <p:spPr>
          <a:xfrm>
            <a:off x="4362450" y="3238500"/>
            <a:ext cx="3143250" cy="762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16" name="Analytics Requirement"/>
          <p:cNvSpPr txBox="1"/>
          <p:nvPr/>
        </p:nvSpPr>
        <p:spPr>
          <a:xfrm>
            <a:off x="4579619" y="3429000"/>
            <a:ext cx="270891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Analytics Requirement</a:t>
            </a:r>
          </a:p>
        </p:txBody>
      </p:sp>
      <p:sp>
        <p:nvSpPr>
          <p:cNvPr id="217" name="Dashboard, alert, prediction, report, trend, or decision support."/>
          <p:cNvSpPr txBox="1"/>
          <p:nvPr/>
        </p:nvSpPr>
        <p:spPr>
          <a:xfrm>
            <a:off x="4579619" y="3829050"/>
            <a:ext cx="2708912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IN" dirty="0"/>
              <a:t>Generate Risk Heatmap Find Safe Routes Show Unsafe Areas</a:t>
            </a:r>
            <a:endParaRPr lang="en-US" dirty="0"/>
          </a:p>
        </p:txBody>
      </p:sp>
      <p:sp>
        <p:nvSpPr>
          <p:cNvPr id="218" name="Proof Required-panel"/>
          <p:cNvSpPr/>
          <p:nvPr/>
        </p:nvSpPr>
        <p:spPr>
          <a:xfrm>
            <a:off x="8001000" y="3238500"/>
            <a:ext cx="3143250" cy="2152650"/>
          </a:xfrm>
          <a:prstGeom prst="roundRect">
            <a:avLst>
              <a:gd name="adj" fmla="val 6349"/>
            </a:avLst>
          </a:prstGeom>
          <a:solidFill>
            <a:srgbClr val="EEF2F6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19" name="Proof Required-bar"/>
          <p:cNvSpPr/>
          <p:nvPr/>
        </p:nvSpPr>
        <p:spPr>
          <a:xfrm>
            <a:off x="8001000" y="3238500"/>
            <a:ext cx="3143250" cy="762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20" name="Proof Required"/>
          <p:cNvSpPr txBox="1"/>
          <p:nvPr/>
        </p:nvSpPr>
        <p:spPr>
          <a:xfrm>
            <a:off x="8218169" y="3429000"/>
            <a:ext cx="270891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Proof Required</a:t>
            </a:r>
          </a:p>
        </p:txBody>
      </p:sp>
      <p:sp>
        <p:nvSpPr>
          <p:cNvPr id="221" name="Sample input, sample output, and one insight generated."/>
          <p:cNvSpPr txBox="1"/>
          <p:nvPr/>
        </p:nvSpPr>
        <p:spPr>
          <a:xfrm>
            <a:off x="8218169" y="3829050"/>
            <a:ext cx="2708912" cy="1569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IN" b="1" dirty="0"/>
              <a:t>Sample Input</a:t>
            </a:r>
          </a:p>
          <a:p>
            <a:r>
              <a:rPr lang="en-IN" dirty="0"/>
              <a:t>User Location: College </a:t>
            </a:r>
          </a:p>
          <a:p>
            <a:r>
              <a:rPr lang="en-IN" dirty="0"/>
              <a:t>Destination: Bus Stand </a:t>
            </a:r>
          </a:p>
          <a:p>
            <a:r>
              <a:rPr lang="en-IN" dirty="0"/>
              <a:t>Crowd Report: Poor Street Lighting </a:t>
            </a:r>
          </a:p>
          <a:p>
            <a:r>
              <a:rPr lang="en-IN" b="1" dirty="0"/>
              <a:t>Sample Output</a:t>
            </a:r>
          </a:p>
          <a:p>
            <a:r>
              <a:rPr lang="en-IN" dirty="0"/>
              <a:t>Safest Route Displayed </a:t>
            </a:r>
          </a:p>
          <a:p>
            <a:r>
              <a:rPr lang="en-IN" dirty="0"/>
              <a:t>Risk Heatmap Updated</a:t>
            </a:r>
          </a:p>
          <a:p>
            <a:endParaRPr dirty="0"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28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229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230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231" name="CO1 AT3 | 07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07</a:t>
            </a:r>
          </a:p>
        </p:txBody>
      </p:sp>
      <p:sp>
        <p:nvSpPr>
          <p:cNvPr id="232" name="slide-title"/>
          <p:cNvSpPr txBox="1"/>
          <p:nvPr/>
        </p:nvSpPr>
        <p:spPr>
          <a:xfrm>
            <a:off x="655319" y="723900"/>
            <a:ext cx="1088136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rgbClr val="1F4E79"/>
                </a:solidFill>
              </a:defRPr>
            </a:lvl1pPr>
          </a:lstStyle>
          <a:p>
            <a:r>
              <a:t>Python / AI Module Integration</a:t>
            </a:r>
          </a:p>
        </p:txBody>
      </p:sp>
      <p:sp>
        <p:nvSpPr>
          <p:cNvPr id="233" name="slide-subtitle"/>
          <p:cNvSpPr txBox="1"/>
          <p:nvPr/>
        </p:nvSpPr>
        <p:spPr>
          <a:xfrm>
            <a:off x="655319" y="1162050"/>
            <a:ext cx="10881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4155"/>
                </a:solidFill>
              </a:defRPr>
            </a:lvl1pPr>
          </a:lstStyle>
          <a:p>
            <a:r>
              <a:t>Python or AI adds intelligence where the product needs it</a:t>
            </a:r>
          </a:p>
        </p:txBody>
      </p:sp>
      <p:sp>
        <p:nvSpPr>
          <p:cNvPr id="234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235" name="section-0"/>
          <p:cNvSpPr/>
          <p:nvPr/>
        </p:nvSpPr>
        <p:spPr>
          <a:xfrm>
            <a:off x="7239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36" name="section-accent-0"/>
          <p:cNvSpPr/>
          <p:nvPr/>
        </p:nvSpPr>
        <p:spPr>
          <a:xfrm>
            <a:off x="723900" y="1600200"/>
            <a:ext cx="57150" cy="12573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37" name="Python Role"/>
          <p:cNvSpPr txBox="1"/>
          <p:nvPr/>
        </p:nvSpPr>
        <p:spPr>
          <a:xfrm>
            <a:off x="998219" y="17907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Python Role</a:t>
            </a:r>
          </a:p>
        </p:txBody>
      </p:sp>
      <p:sp>
        <p:nvSpPr>
          <p:cNvPr id="238" name="Prediction, automation, analytics, OCR, NLP, or reporting."/>
          <p:cNvSpPr txBox="1"/>
          <p:nvPr/>
        </p:nvSpPr>
        <p:spPr>
          <a:xfrm>
            <a:off x="998219" y="2190750"/>
            <a:ext cx="4099562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IN" dirty="0"/>
              <a:t>Python </a:t>
            </a:r>
            <a:r>
              <a:rPr lang="en-IN" dirty="0" err="1"/>
              <a:t>analyzes</a:t>
            </a:r>
            <a:r>
              <a:rPr lang="en-IN" dirty="0"/>
              <a:t> crowd reports and calculates safety scores.</a:t>
            </a:r>
            <a:endParaRPr dirty="0"/>
          </a:p>
        </p:txBody>
      </p:sp>
      <p:sp>
        <p:nvSpPr>
          <p:cNvPr id="239" name="section-1"/>
          <p:cNvSpPr/>
          <p:nvPr/>
        </p:nvSpPr>
        <p:spPr>
          <a:xfrm>
            <a:off x="61341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40" name="section-accent-1"/>
          <p:cNvSpPr/>
          <p:nvPr/>
        </p:nvSpPr>
        <p:spPr>
          <a:xfrm>
            <a:off x="6134100" y="1600200"/>
            <a:ext cx="57150" cy="12573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41" name="Input and Output"/>
          <p:cNvSpPr txBox="1"/>
          <p:nvPr/>
        </p:nvSpPr>
        <p:spPr>
          <a:xfrm>
            <a:off x="6408419" y="17907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rPr dirty="0"/>
              <a:t>Input and Output</a:t>
            </a:r>
          </a:p>
        </p:txBody>
      </p:sp>
      <p:sp>
        <p:nvSpPr>
          <p:cNvPr id="242" name="What data enters the module and what result comes out?"/>
          <p:cNvSpPr txBox="1"/>
          <p:nvPr/>
        </p:nvSpPr>
        <p:spPr>
          <a:xfrm>
            <a:off x="6408419" y="2190750"/>
            <a:ext cx="4099562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IN" dirty="0"/>
              <a:t>INPUTS:GPS Coordinates ,Crowd Reports, Crime Data, Time</a:t>
            </a:r>
          </a:p>
          <a:p>
            <a:r>
              <a:rPr lang="en-IN" dirty="0" err="1"/>
              <a:t>OUTPUTS:Safe</a:t>
            </a:r>
            <a:r>
              <a:rPr lang="en-IN" dirty="0"/>
              <a:t> Route, Risk Score, Heatmap, Alert Messages</a:t>
            </a:r>
            <a:endParaRPr dirty="0"/>
          </a:p>
        </p:txBody>
      </p:sp>
      <p:sp>
        <p:nvSpPr>
          <p:cNvPr id="243" name="section-2"/>
          <p:cNvSpPr/>
          <p:nvPr/>
        </p:nvSpPr>
        <p:spPr>
          <a:xfrm>
            <a:off x="7239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44" name="section-accent-2"/>
          <p:cNvSpPr/>
          <p:nvPr/>
        </p:nvSpPr>
        <p:spPr>
          <a:xfrm>
            <a:off x="723900" y="3238500"/>
            <a:ext cx="57150" cy="1257300"/>
          </a:xfrm>
          <a:prstGeom prst="rect">
            <a:avLst/>
          </a:prstGeom>
          <a:solidFill>
            <a:srgbClr val="466A8F"/>
          </a:solidFill>
          <a:ln>
            <a:solidFill>
              <a:srgbClr val="466A8F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45" name="Execution Point"/>
          <p:cNvSpPr txBox="1"/>
          <p:nvPr/>
        </p:nvSpPr>
        <p:spPr>
          <a:xfrm>
            <a:off x="998219" y="34290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Execution Point</a:t>
            </a:r>
          </a:p>
        </p:txBody>
      </p:sp>
      <p:sp>
        <p:nvSpPr>
          <p:cNvPr id="246" name="API endpoint, serverless function, container, notebook, or scheduled job."/>
          <p:cNvSpPr txBox="1"/>
          <p:nvPr/>
        </p:nvSpPr>
        <p:spPr>
          <a:xfrm>
            <a:off x="998219" y="3829050"/>
            <a:ext cx="4099562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IN" dirty="0"/>
              <a:t>Python Flask REST API</a:t>
            </a:r>
            <a:endParaRPr dirty="0"/>
          </a:p>
        </p:txBody>
      </p:sp>
      <p:sp>
        <p:nvSpPr>
          <p:cNvPr id="247" name="section-3"/>
          <p:cNvSpPr/>
          <p:nvPr/>
        </p:nvSpPr>
        <p:spPr>
          <a:xfrm>
            <a:off x="61341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48" name="section-accent-3"/>
          <p:cNvSpPr/>
          <p:nvPr/>
        </p:nvSpPr>
        <p:spPr>
          <a:xfrm>
            <a:off x="6134100" y="3238500"/>
            <a:ext cx="57150" cy="1257300"/>
          </a:xfrm>
          <a:prstGeom prst="rect">
            <a:avLst/>
          </a:prstGeom>
          <a:solidFill>
            <a:srgbClr val="7C95AD"/>
          </a:solidFill>
          <a:ln>
            <a:solidFill>
              <a:srgbClr val="7C95AD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49" name="Product Value"/>
          <p:cNvSpPr txBox="1"/>
          <p:nvPr/>
        </p:nvSpPr>
        <p:spPr>
          <a:xfrm>
            <a:off x="6408419" y="34290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Product Value</a:t>
            </a:r>
          </a:p>
        </p:txBody>
      </p:sp>
      <p:sp>
        <p:nvSpPr>
          <p:cNvPr id="250" name="How does this module improve user experience or decision-making?"/>
          <p:cNvSpPr txBox="1"/>
          <p:nvPr/>
        </p:nvSpPr>
        <p:spPr>
          <a:xfrm>
            <a:off x="6408419" y="3829050"/>
            <a:ext cx="4099562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IN" dirty="0"/>
              <a:t>Intelligent route planning, Faster decision making </a:t>
            </a:r>
            <a:endParaRPr dirty="0"/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57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258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259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260" name="CO1 AT3 | 08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08</a:t>
            </a:r>
          </a:p>
        </p:txBody>
      </p:sp>
      <p:sp>
        <p:nvSpPr>
          <p:cNvPr id="261" name="slide-title"/>
          <p:cNvSpPr txBox="1"/>
          <p:nvPr/>
        </p:nvSpPr>
        <p:spPr>
          <a:xfrm>
            <a:off x="655319" y="723900"/>
            <a:ext cx="1088136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rgbClr val="1F4E79"/>
                </a:solidFill>
              </a:defRPr>
            </a:lvl1pPr>
          </a:lstStyle>
          <a:p>
            <a:r>
              <a:t>Security, Scalability, Privacy and Cost Design</a:t>
            </a:r>
          </a:p>
        </p:txBody>
      </p:sp>
      <p:sp>
        <p:nvSpPr>
          <p:cNvPr id="262" name="slide-subtitle"/>
          <p:cNvSpPr txBox="1"/>
          <p:nvPr/>
        </p:nvSpPr>
        <p:spPr>
          <a:xfrm>
            <a:off x="655319" y="1162050"/>
            <a:ext cx="10881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4155"/>
                </a:solidFill>
              </a:defRPr>
            </a:lvl1pPr>
          </a:lstStyle>
          <a:p>
            <a:r>
              <a:t>Security, scale, privacy and cost shape the final design</a:t>
            </a:r>
          </a:p>
        </p:txBody>
      </p:sp>
      <p:sp>
        <p:nvSpPr>
          <p:cNvPr id="263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264" name="section-0"/>
          <p:cNvSpPr/>
          <p:nvPr/>
        </p:nvSpPr>
        <p:spPr>
          <a:xfrm>
            <a:off x="7239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65" name="section-accent-0"/>
          <p:cNvSpPr/>
          <p:nvPr/>
        </p:nvSpPr>
        <p:spPr>
          <a:xfrm>
            <a:off x="723900" y="1600200"/>
            <a:ext cx="57150" cy="12573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66" name="Security"/>
          <p:cNvSpPr txBox="1"/>
          <p:nvPr/>
        </p:nvSpPr>
        <p:spPr>
          <a:xfrm>
            <a:off x="998219" y="17907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Security</a:t>
            </a:r>
          </a:p>
        </p:txBody>
      </p:sp>
      <p:sp>
        <p:nvSpPr>
          <p:cNvPr id="267" name="Authentication, roles, validation, audit trail."/>
          <p:cNvSpPr txBox="1"/>
          <p:nvPr/>
        </p:nvSpPr>
        <p:spPr>
          <a:xfrm>
            <a:off x="998219" y="2190750"/>
            <a:ext cx="4099562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IN" dirty="0"/>
              <a:t>Firebase Authentication, Encrypted Communication, Secure API</a:t>
            </a:r>
            <a:endParaRPr dirty="0"/>
          </a:p>
        </p:txBody>
      </p:sp>
      <p:sp>
        <p:nvSpPr>
          <p:cNvPr id="268" name="section-1"/>
          <p:cNvSpPr/>
          <p:nvPr/>
        </p:nvSpPr>
        <p:spPr>
          <a:xfrm>
            <a:off x="61341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69" name="section-accent-1"/>
          <p:cNvSpPr/>
          <p:nvPr/>
        </p:nvSpPr>
        <p:spPr>
          <a:xfrm>
            <a:off x="6134100" y="1600200"/>
            <a:ext cx="57150" cy="12573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70" name="Privacy"/>
          <p:cNvSpPr txBox="1"/>
          <p:nvPr/>
        </p:nvSpPr>
        <p:spPr>
          <a:xfrm>
            <a:off x="6408419" y="17907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Privacy</a:t>
            </a:r>
          </a:p>
        </p:txBody>
      </p:sp>
      <p:sp>
        <p:nvSpPr>
          <p:cNvPr id="271" name="Sensitive data, consent, anonymization, access limits."/>
          <p:cNvSpPr txBox="1"/>
          <p:nvPr/>
        </p:nvSpPr>
        <p:spPr>
          <a:xfrm>
            <a:off x="6408419" y="2190750"/>
            <a:ext cx="4099562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IN" dirty="0"/>
              <a:t>Anonymous Reporting ,User Permission, Data Encryption</a:t>
            </a:r>
            <a:endParaRPr dirty="0"/>
          </a:p>
        </p:txBody>
      </p:sp>
      <p:sp>
        <p:nvSpPr>
          <p:cNvPr id="272" name="section-2"/>
          <p:cNvSpPr/>
          <p:nvPr/>
        </p:nvSpPr>
        <p:spPr>
          <a:xfrm>
            <a:off x="7239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73" name="section-accent-2"/>
          <p:cNvSpPr/>
          <p:nvPr/>
        </p:nvSpPr>
        <p:spPr>
          <a:xfrm>
            <a:off x="723900" y="3238500"/>
            <a:ext cx="57150" cy="1257300"/>
          </a:xfrm>
          <a:prstGeom prst="rect">
            <a:avLst/>
          </a:prstGeom>
          <a:solidFill>
            <a:srgbClr val="466A8F"/>
          </a:solidFill>
          <a:ln>
            <a:solidFill>
              <a:srgbClr val="466A8F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74" name="Scalability"/>
          <p:cNvSpPr txBox="1"/>
          <p:nvPr/>
        </p:nvSpPr>
        <p:spPr>
          <a:xfrm>
            <a:off x="998219" y="34290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Scalability</a:t>
            </a:r>
          </a:p>
        </p:txBody>
      </p:sp>
      <p:sp>
        <p:nvSpPr>
          <p:cNvPr id="275" name="How will users grow without redesign?"/>
          <p:cNvSpPr txBox="1"/>
          <p:nvPr/>
        </p:nvSpPr>
        <p:spPr>
          <a:xfrm>
            <a:off x="998219" y="3829050"/>
            <a:ext cx="4099562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IN" dirty="0"/>
              <a:t>Supports thousands of </a:t>
            </a:r>
            <a:r>
              <a:rPr lang="en-IN" dirty="0" err="1"/>
              <a:t>user,s</a:t>
            </a:r>
            <a:r>
              <a:rPr lang="en-IN" dirty="0"/>
              <a:t> Automatic cloud scaling, Real-time synchronization</a:t>
            </a:r>
            <a:endParaRPr dirty="0"/>
          </a:p>
        </p:txBody>
      </p:sp>
      <p:sp>
        <p:nvSpPr>
          <p:cNvPr id="276" name="section-3"/>
          <p:cNvSpPr/>
          <p:nvPr/>
        </p:nvSpPr>
        <p:spPr>
          <a:xfrm>
            <a:off x="61341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77" name="section-accent-3"/>
          <p:cNvSpPr/>
          <p:nvPr/>
        </p:nvSpPr>
        <p:spPr>
          <a:xfrm>
            <a:off x="6134100" y="3238500"/>
            <a:ext cx="57150" cy="1257300"/>
          </a:xfrm>
          <a:prstGeom prst="rect">
            <a:avLst/>
          </a:prstGeom>
          <a:solidFill>
            <a:srgbClr val="7C95AD"/>
          </a:solidFill>
          <a:ln>
            <a:solidFill>
              <a:srgbClr val="7C95AD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78" name="Cost Awareness"/>
          <p:cNvSpPr txBox="1"/>
          <p:nvPr/>
        </p:nvSpPr>
        <p:spPr>
          <a:xfrm>
            <a:off x="6408419" y="34290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Cost Awareness</a:t>
            </a:r>
          </a:p>
        </p:txBody>
      </p:sp>
      <p:sp>
        <p:nvSpPr>
          <p:cNvPr id="279" name="Free tier, managed services, storage/API usage limits."/>
          <p:cNvSpPr txBox="1"/>
          <p:nvPr/>
        </p:nvSpPr>
        <p:spPr>
          <a:xfrm>
            <a:off x="6408419" y="3829050"/>
            <a:ext cx="4099562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IN" dirty="0"/>
              <a:t>Firebase Free Tier, Google Maps API Free Credits</a:t>
            </a:r>
            <a:endParaRPr dirty="0"/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86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287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288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289" name="CO1 AT3 | 09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09</a:t>
            </a:r>
          </a:p>
        </p:txBody>
      </p:sp>
      <p:sp>
        <p:nvSpPr>
          <p:cNvPr id="290" name="slide-title"/>
          <p:cNvSpPr txBox="1"/>
          <p:nvPr/>
        </p:nvSpPr>
        <p:spPr>
          <a:xfrm>
            <a:off x="655319" y="723900"/>
            <a:ext cx="1088136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rgbClr val="1F4E79"/>
                </a:solidFill>
              </a:defRPr>
            </a:lvl1pPr>
          </a:lstStyle>
          <a:p>
            <a:r>
              <a:t>Implementation Stack and Deployment Evidence</a:t>
            </a:r>
          </a:p>
        </p:txBody>
      </p:sp>
      <p:sp>
        <p:nvSpPr>
          <p:cNvPr id="291" name="slide-subtitle"/>
          <p:cNvSpPr txBox="1"/>
          <p:nvPr/>
        </p:nvSpPr>
        <p:spPr>
          <a:xfrm>
            <a:off x="655319" y="1162050"/>
            <a:ext cx="10881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4155"/>
                </a:solidFill>
              </a:defRPr>
            </a:lvl1pPr>
          </a:lstStyle>
          <a:p>
            <a:r>
              <a:t>Our implementation stack shows how the design will be built</a:t>
            </a:r>
          </a:p>
        </p:txBody>
      </p:sp>
      <p:sp>
        <p:nvSpPr>
          <p:cNvPr id="292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293" name="section-0"/>
          <p:cNvSpPr/>
          <p:nvPr/>
        </p:nvSpPr>
        <p:spPr>
          <a:xfrm>
            <a:off x="7239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 dirty="0"/>
          </a:p>
        </p:txBody>
      </p:sp>
      <p:sp>
        <p:nvSpPr>
          <p:cNvPr id="294" name="section-accent-0"/>
          <p:cNvSpPr/>
          <p:nvPr/>
        </p:nvSpPr>
        <p:spPr>
          <a:xfrm>
            <a:off x="723900" y="1600200"/>
            <a:ext cx="57150" cy="12573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95" name="Mobile / Web Layer"/>
          <p:cNvSpPr txBox="1"/>
          <p:nvPr/>
        </p:nvSpPr>
        <p:spPr>
          <a:xfrm>
            <a:off x="998219" y="17907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Mobile / Web Layer</a:t>
            </a:r>
          </a:p>
        </p:txBody>
      </p:sp>
      <p:sp>
        <p:nvSpPr>
          <p:cNvPr id="296" name="Android, iOS, Flutter, React, or web frontend."/>
          <p:cNvSpPr txBox="1"/>
          <p:nvPr/>
        </p:nvSpPr>
        <p:spPr>
          <a:xfrm>
            <a:off x="998219" y="2190750"/>
            <a:ext cx="4099562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IN" dirty="0"/>
              <a:t>Android Studio, Java, XML, Google Maps API</a:t>
            </a:r>
            <a:endParaRPr dirty="0"/>
          </a:p>
        </p:txBody>
      </p:sp>
      <p:sp>
        <p:nvSpPr>
          <p:cNvPr id="297" name="section-1"/>
          <p:cNvSpPr/>
          <p:nvPr/>
        </p:nvSpPr>
        <p:spPr>
          <a:xfrm>
            <a:off x="61341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98" name="section-accent-1"/>
          <p:cNvSpPr/>
          <p:nvPr/>
        </p:nvSpPr>
        <p:spPr>
          <a:xfrm>
            <a:off x="6134100" y="1600200"/>
            <a:ext cx="57150" cy="12573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99" name="Cloud Services"/>
          <p:cNvSpPr txBox="1"/>
          <p:nvPr/>
        </p:nvSpPr>
        <p:spPr>
          <a:xfrm>
            <a:off x="6408419" y="17907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Cloud Services</a:t>
            </a:r>
          </a:p>
        </p:txBody>
      </p:sp>
      <p:sp>
        <p:nvSpPr>
          <p:cNvPr id="300" name="Compute, database, storage, authentication, analytics, API tools."/>
          <p:cNvSpPr txBox="1"/>
          <p:nvPr/>
        </p:nvSpPr>
        <p:spPr>
          <a:xfrm>
            <a:off x="6408419" y="2190750"/>
            <a:ext cx="4099562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IN" dirty="0" err="1"/>
              <a:t>irebase</a:t>
            </a:r>
            <a:r>
              <a:rPr lang="en-IN" dirty="0"/>
              <a:t> Authentication, </a:t>
            </a:r>
            <a:r>
              <a:rPr lang="en-IN" dirty="0" err="1"/>
              <a:t>FirebaseFirestore</a:t>
            </a:r>
            <a:r>
              <a:rPr lang="en-IN" dirty="0"/>
              <a:t>, Firebase Storage Google Cloud</a:t>
            </a:r>
            <a:endParaRPr lang="en-US" dirty="0"/>
          </a:p>
        </p:txBody>
      </p:sp>
      <p:sp>
        <p:nvSpPr>
          <p:cNvPr id="301" name="section-2"/>
          <p:cNvSpPr/>
          <p:nvPr/>
        </p:nvSpPr>
        <p:spPr>
          <a:xfrm>
            <a:off x="7239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02" name="section-accent-2"/>
          <p:cNvSpPr/>
          <p:nvPr/>
        </p:nvSpPr>
        <p:spPr>
          <a:xfrm>
            <a:off x="723900" y="3238500"/>
            <a:ext cx="57150" cy="1257300"/>
          </a:xfrm>
          <a:prstGeom prst="rect">
            <a:avLst/>
          </a:prstGeom>
          <a:solidFill>
            <a:srgbClr val="466A8F"/>
          </a:solidFill>
          <a:ln>
            <a:solidFill>
              <a:srgbClr val="466A8F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03" name="Evidence"/>
          <p:cNvSpPr txBox="1"/>
          <p:nvPr/>
        </p:nvSpPr>
        <p:spPr>
          <a:xfrm>
            <a:off x="998219" y="34290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Evidence</a:t>
            </a:r>
          </a:p>
        </p:txBody>
      </p:sp>
      <p:sp>
        <p:nvSpPr>
          <p:cNvPr id="304" name="GitHub, API test, cloud dashboard, endpoint, logs, or deployment URL."/>
          <p:cNvSpPr txBox="1"/>
          <p:nvPr/>
        </p:nvSpPr>
        <p:spPr>
          <a:xfrm>
            <a:off x="998219" y="3829050"/>
            <a:ext cx="4099562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IN" dirty="0"/>
              <a:t>Login Page ,Home Page, Safe Route Display, Risk Heatmap</a:t>
            </a:r>
            <a:endParaRPr dirty="0"/>
          </a:p>
        </p:txBody>
      </p:sp>
      <p:sp>
        <p:nvSpPr>
          <p:cNvPr id="305" name="section-3"/>
          <p:cNvSpPr/>
          <p:nvPr/>
        </p:nvSpPr>
        <p:spPr>
          <a:xfrm>
            <a:off x="61341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06" name="section-accent-3"/>
          <p:cNvSpPr/>
          <p:nvPr/>
        </p:nvSpPr>
        <p:spPr>
          <a:xfrm>
            <a:off x="6134100" y="3238500"/>
            <a:ext cx="57150" cy="1257300"/>
          </a:xfrm>
          <a:prstGeom prst="rect">
            <a:avLst/>
          </a:prstGeom>
          <a:solidFill>
            <a:srgbClr val="7C95AD"/>
          </a:solidFill>
          <a:ln>
            <a:solidFill>
              <a:srgbClr val="7C95AD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07" name="Version Control"/>
          <p:cNvSpPr txBox="1"/>
          <p:nvPr/>
        </p:nvSpPr>
        <p:spPr>
          <a:xfrm>
            <a:off x="6408419" y="34290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Version Control</a:t>
            </a:r>
          </a:p>
        </p:txBody>
      </p:sp>
      <p:sp>
        <p:nvSpPr>
          <p:cNvPr id="308" name="Repository structure, commits, branches, and README clarity."/>
          <p:cNvSpPr txBox="1"/>
          <p:nvPr/>
        </p:nvSpPr>
        <p:spPr>
          <a:xfrm>
            <a:off x="6408419" y="3829050"/>
            <a:ext cx="4099562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IN" dirty="0"/>
              <a:t>GitHub Repository, Project Files, Source Code Backup</a:t>
            </a:r>
            <a:endParaRPr dirty="0"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15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316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317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318" name="CO1 AT3 | 10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10</a:t>
            </a:r>
          </a:p>
        </p:txBody>
      </p:sp>
      <p:sp>
        <p:nvSpPr>
          <p:cNvPr id="319" name="slide-title"/>
          <p:cNvSpPr txBox="1"/>
          <p:nvPr/>
        </p:nvSpPr>
        <p:spPr>
          <a:xfrm>
            <a:off x="655319" y="723900"/>
            <a:ext cx="1088136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rgbClr val="1F4E79"/>
                </a:solidFill>
              </a:defRPr>
            </a:lvl1pPr>
          </a:lstStyle>
          <a:p>
            <a:r>
              <a:t>Demo Storyboard and User Journey</a:t>
            </a:r>
          </a:p>
        </p:txBody>
      </p:sp>
      <p:sp>
        <p:nvSpPr>
          <p:cNvPr id="320" name="slide-subtitle"/>
          <p:cNvSpPr txBox="1"/>
          <p:nvPr/>
        </p:nvSpPr>
        <p:spPr>
          <a:xfrm>
            <a:off x="655319" y="1162050"/>
            <a:ext cx="10881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4155"/>
                </a:solidFill>
              </a:defRPr>
            </a:lvl1pPr>
          </a:lstStyle>
          <a:p>
            <a:r>
              <a:t>A complete user journey proves the product flow</a:t>
            </a:r>
          </a:p>
        </p:txBody>
      </p:sp>
      <p:sp>
        <p:nvSpPr>
          <p:cNvPr id="321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322" name="scene-0"/>
          <p:cNvSpPr/>
          <p:nvPr/>
        </p:nvSpPr>
        <p:spPr>
          <a:xfrm>
            <a:off x="723900" y="1581149"/>
            <a:ext cx="3143250" cy="1452265"/>
          </a:xfrm>
          <a:prstGeom prst="roundRect">
            <a:avLst>
              <a:gd name="adj" fmla="val 6154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23" name="Scene 1"/>
          <p:cNvSpPr txBox="1"/>
          <p:nvPr/>
        </p:nvSpPr>
        <p:spPr>
          <a:xfrm>
            <a:off x="941069" y="1733550"/>
            <a:ext cx="25755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500" b="1">
                <a:solidFill>
                  <a:srgbClr val="1F4E79"/>
                </a:solidFill>
              </a:defRPr>
            </a:lvl1pPr>
          </a:lstStyle>
          <a:p>
            <a:r>
              <a:t>Scene 1</a:t>
            </a:r>
          </a:p>
        </p:txBody>
      </p:sp>
      <p:sp>
        <p:nvSpPr>
          <p:cNvPr id="324" name="User action -&gt; system response -&gt; cloud component touched"/>
          <p:cNvSpPr txBox="1"/>
          <p:nvPr/>
        </p:nvSpPr>
        <p:spPr>
          <a:xfrm>
            <a:off x="941069" y="2095500"/>
            <a:ext cx="2613662" cy="1107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r>
              <a:rPr lang="en-IN" dirty="0"/>
              <a:t>User opens </a:t>
            </a:r>
            <a:r>
              <a:rPr lang="en-IN" dirty="0" err="1"/>
              <a:t>SafeWalk</a:t>
            </a:r>
            <a:r>
              <a:rPr lang="en-IN" dirty="0"/>
              <a:t> App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Login Successful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Firebase Authentication</a:t>
            </a:r>
          </a:p>
          <a:p>
            <a:endParaRPr dirty="0"/>
          </a:p>
        </p:txBody>
      </p:sp>
      <p:sp>
        <p:nvSpPr>
          <p:cNvPr id="325" name="scene-1"/>
          <p:cNvSpPr/>
          <p:nvPr/>
        </p:nvSpPr>
        <p:spPr>
          <a:xfrm>
            <a:off x="4362450" y="1581150"/>
            <a:ext cx="3143250" cy="15049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26" name="Scene 2"/>
          <p:cNvSpPr txBox="1"/>
          <p:nvPr/>
        </p:nvSpPr>
        <p:spPr>
          <a:xfrm>
            <a:off x="4579619" y="1733550"/>
            <a:ext cx="25755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500" b="1">
                <a:solidFill>
                  <a:srgbClr val="1F4E79"/>
                </a:solidFill>
              </a:defRPr>
            </a:lvl1pPr>
          </a:lstStyle>
          <a:p>
            <a:r>
              <a:t>Scene 2</a:t>
            </a:r>
          </a:p>
        </p:txBody>
      </p:sp>
      <p:sp>
        <p:nvSpPr>
          <p:cNvPr id="327" name="User action -&gt; system response -&gt; cloud component touched"/>
          <p:cNvSpPr txBox="1"/>
          <p:nvPr/>
        </p:nvSpPr>
        <p:spPr>
          <a:xfrm>
            <a:off x="4579619" y="2095500"/>
            <a:ext cx="2613662" cy="1107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r>
              <a:rPr lang="en-IN" dirty="0"/>
              <a:t>User enters destination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Location fetched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Google Maps API</a:t>
            </a:r>
          </a:p>
          <a:p>
            <a:endParaRPr dirty="0"/>
          </a:p>
        </p:txBody>
      </p:sp>
      <p:sp>
        <p:nvSpPr>
          <p:cNvPr id="328" name="scene-2"/>
          <p:cNvSpPr/>
          <p:nvPr/>
        </p:nvSpPr>
        <p:spPr>
          <a:xfrm>
            <a:off x="8001000" y="1581150"/>
            <a:ext cx="3143250" cy="1452264"/>
          </a:xfrm>
          <a:prstGeom prst="roundRect">
            <a:avLst>
              <a:gd name="adj" fmla="val 6154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29" name="Scene 3"/>
          <p:cNvSpPr txBox="1"/>
          <p:nvPr/>
        </p:nvSpPr>
        <p:spPr>
          <a:xfrm>
            <a:off x="8218169" y="1733550"/>
            <a:ext cx="25755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500" b="1">
                <a:solidFill>
                  <a:srgbClr val="1F4E79"/>
                </a:solidFill>
              </a:defRPr>
            </a:lvl1pPr>
          </a:lstStyle>
          <a:p>
            <a:r>
              <a:t>Scene 3</a:t>
            </a:r>
          </a:p>
        </p:txBody>
      </p:sp>
      <p:sp>
        <p:nvSpPr>
          <p:cNvPr id="330" name="User action -&gt; system response -&gt; cloud component touched"/>
          <p:cNvSpPr txBox="1"/>
          <p:nvPr/>
        </p:nvSpPr>
        <p:spPr>
          <a:xfrm>
            <a:off x="8218169" y="2095500"/>
            <a:ext cx="2613662" cy="1107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r>
              <a:rPr lang="en-IN" dirty="0"/>
              <a:t>System checks crowd reports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Risk analysis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Cloud Database</a:t>
            </a:r>
          </a:p>
          <a:p>
            <a:endParaRPr dirty="0"/>
          </a:p>
        </p:txBody>
      </p:sp>
      <p:sp>
        <p:nvSpPr>
          <p:cNvPr id="331" name="scene-3"/>
          <p:cNvSpPr/>
          <p:nvPr/>
        </p:nvSpPr>
        <p:spPr>
          <a:xfrm>
            <a:off x="723900" y="331470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 dirty="0"/>
          </a:p>
        </p:txBody>
      </p:sp>
      <p:sp>
        <p:nvSpPr>
          <p:cNvPr id="332" name="Scene 4"/>
          <p:cNvSpPr txBox="1"/>
          <p:nvPr/>
        </p:nvSpPr>
        <p:spPr>
          <a:xfrm>
            <a:off x="941069" y="3467100"/>
            <a:ext cx="25755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500" b="1">
                <a:solidFill>
                  <a:srgbClr val="1F4E79"/>
                </a:solidFill>
              </a:defRPr>
            </a:lvl1pPr>
          </a:lstStyle>
          <a:p>
            <a:r>
              <a:t>Scene 4</a:t>
            </a:r>
          </a:p>
        </p:txBody>
      </p:sp>
      <p:sp>
        <p:nvSpPr>
          <p:cNvPr id="333" name="User action -&gt; system response -&gt; cloud component touched"/>
          <p:cNvSpPr txBox="1"/>
          <p:nvPr/>
        </p:nvSpPr>
        <p:spPr>
          <a:xfrm>
            <a:off x="941069" y="3829050"/>
            <a:ext cx="2613662" cy="76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r>
              <a:rPr lang="en-IN" dirty="0"/>
              <a:t>Heatmap generated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Unsafe areas highlighted</a:t>
            </a:r>
          </a:p>
          <a:p>
            <a:endParaRPr dirty="0"/>
          </a:p>
        </p:txBody>
      </p:sp>
      <p:sp>
        <p:nvSpPr>
          <p:cNvPr id="334" name="scene-4"/>
          <p:cNvSpPr/>
          <p:nvPr/>
        </p:nvSpPr>
        <p:spPr>
          <a:xfrm>
            <a:off x="4362450" y="331470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35" name="Scene 5"/>
          <p:cNvSpPr txBox="1"/>
          <p:nvPr/>
        </p:nvSpPr>
        <p:spPr>
          <a:xfrm>
            <a:off x="4579619" y="3467100"/>
            <a:ext cx="25755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500" b="1">
                <a:solidFill>
                  <a:srgbClr val="1F4E79"/>
                </a:solidFill>
              </a:defRPr>
            </a:lvl1pPr>
          </a:lstStyle>
          <a:p>
            <a:r>
              <a:t>Scene 5</a:t>
            </a:r>
          </a:p>
        </p:txBody>
      </p:sp>
      <p:sp>
        <p:nvSpPr>
          <p:cNvPr id="336" name="User action -&gt; system response -&gt; cloud component touched"/>
          <p:cNvSpPr txBox="1"/>
          <p:nvPr/>
        </p:nvSpPr>
        <p:spPr>
          <a:xfrm>
            <a:off x="4579619" y="3829050"/>
            <a:ext cx="2613662" cy="76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r>
              <a:rPr lang="en-IN" dirty="0"/>
              <a:t>Safe route calculated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Displayed on map</a:t>
            </a:r>
          </a:p>
          <a:p>
            <a:endParaRPr dirty="0"/>
          </a:p>
        </p:txBody>
      </p:sp>
      <p:sp>
        <p:nvSpPr>
          <p:cNvPr id="337" name="scene-5"/>
          <p:cNvSpPr/>
          <p:nvPr/>
        </p:nvSpPr>
        <p:spPr>
          <a:xfrm>
            <a:off x="8001000" y="331470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38" name="Scene 6"/>
          <p:cNvSpPr txBox="1"/>
          <p:nvPr/>
        </p:nvSpPr>
        <p:spPr>
          <a:xfrm>
            <a:off x="8218169" y="3467100"/>
            <a:ext cx="25755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500" b="1">
                <a:solidFill>
                  <a:srgbClr val="1F4E79"/>
                </a:solidFill>
              </a:defRPr>
            </a:lvl1pPr>
          </a:lstStyle>
          <a:p>
            <a:r>
              <a:t>Scene 6</a:t>
            </a:r>
          </a:p>
        </p:txBody>
      </p:sp>
      <p:sp>
        <p:nvSpPr>
          <p:cNvPr id="339" name="User action -&gt; system response -&gt; cloud component touched"/>
          <p:cNvSpPr txBox="1"/>
          <p:nvPr/>
        </p:nvSpPr>
        <p:spPr>
          <a:xfrm>
            <a:off x="8218169" y="3829050"/>
            <a:ext cx="2613662" cy="76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r>
              <a:rPr lang="en-IN" dirty="0"/>
              <a:t>User reaches destination safely</a:t>
            </a:r>
          </a:p>
          <a:p>
            <a:r>
              <a:rPr lang="en-IN" dirty="0"/>
              <a:t>↓</a:t>
            </a:r>
          </a:p>
          <a:p>
            <a:r>
              <a:rPr lang="en-IN" dirty="0"/>
              <a:t>Journey stored in cloud</a:t>
            </a:r>
          </a:p>
          <a:p>
            <a:endParaRPr dirty="0"/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46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347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348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349" name="CO1 AT3 | 11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11</a:t>
            </a:r>
          </a:p>
        </p:txBody>
      </p:sp>
      <p:sp>
        <p:nvSpPr>
          <p:cNvPr id="350" name="slide-title"/>
          <p:cNvSpPr txBox="1"/>
          <p:nvPr/>
        </p:nvSpPr>
        <p:spPr>
          <a:xfrm>
            <a:off x="655319" y="723900"/>
            <a:ext cx="1088136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rgbClr val="1F4E79"/>
                </a:solidFill>
              </a:defRPr>
            </a:lvl1pPr>
          </a:lstStyle>
          <a:p>
            <a:r>
              <a:t>Evaluation Readiness Checklist</a:t>
            </a:r>
          </a:p>
        </p:txBody>
      </p:sp>
      <p:sp>
        <p:nvSpPr>
          <p:cNvPr id="351" name="slide-subtitle"/>
          <p:cNvSpPr txBox="1"/>
          <p:nvPr/>
        </p:nvSpPr>
        <p:spPr>
          <a:xfrm>
            <a:off x="655319" y="1162050"/>
            <a:ext cx="10881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4155"/>
                </a:solidFill>
              </a:defRPr>
            </a:lvl1pPr>
          </a:lstStyle>
          <a:p>
            <a:r>
              <a:t>Our evidence confirms that the presentation is ready</a:t>
            </a:r>
          </a:p>
        </p:txBody>
      </p:sp>
      <p:sp>
        <p:nvSpPr>
          <p:cNvPr id="352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353" name="check-0"/>
          <p:cNvSpPr/>
          <p:nvPr/>
        </p:nvSpPr>
        <p:spPr>
          <a:xfrm>
            <a:off x="952500" y="1619250"/>
            <a:ext cx="4762500" cy="742950"/>
          </a:xfrm>
          <a:prstGeom prst="roundRect">
            <a:avLst>
              <a:gd name="adj" fmla="val 10256"/>
            </a:avLst>
          </a:prstGeom>
          <a:solidFill>
            <a:srgbClr val="EEF2F6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 dirty="0"/>
          </a:p>
        </p:txBody>
      </p:sp>
      <p:sp>
        <p:nvSpPr>
          <p:cNvPr id="355" name="Cloud ecosystem and service model explained"/>
          <p:cNvSpPr txBox="1"/>
          <p:nvPr/>
        </p:nvSpPr>
        <p:spPr>
          <a:xfrm>
            <a:off x="1626869" y="1790700"/>
            <a:ext cx="37185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 b="1">
                <a:solidFill>
                  <a:srgbClr val="172033"/>
                </a:solidFill>
              </a:defRPr>
            </a:lvl1pPr>
          </a:lstStyle>
          <a:p>
            <a:r>
              <a:t>Cloud ecosystem and service model explained</a:t>
            </a:r>
          </a:p>
        </p:txBody>
      </p:sp>
      <p:sp>
        <p:nvSpPr>
          <p:cNvPr id="356" name="check-1"/>
          <p:cNvSpPr/>
          <p:nvPr/>
        </p:nvSpPr>
        <p:spPr>
          <a:xfrm>
            <a:off x="952500" y="2686050"/>
            <a:ext cx="47625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58" name="REST/SOAP/API role connected to capstone"/>
          <p:cNvSpPr txBox="1"/>
          <p:nvPr/>
        </p:nvSpPr>
        <p:spPr>
          <a:xfrm>
            <a:off x="1626869" y="2857500"/>
            <a:ext cx="37185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 b="1">
                <a:solidFill>
                  <a:srgbClr val="172033"/>
                </a:solidFill>
              </a:defRPr>
            </a:lvl1pPr>
          </a:lstStyle>
          <a:p>
            <a:r>
              <a:t>REST/SOAP/API role connected to capstone</a:t>
            </a:r>
          </a:p>
        </p:txBody>
      </p:sp>
      <p:sp>
        <p:nvSpPr>
          <p:cNvPr id="359" name="check-2"/>
          <p:cNvSpPr/>
          <p:nvPr/>
        </p:nvSpPr>
        <p:spPr>
          <a:xfrm>
            <a:off x="952500" y="3752850"/>
            <a:ext cx="4762500" cy="742950"/>
          </a:xfrm>
          <a:prstGeom prst="roundRect">
            <a:avLst>
              <a:gd name="adj" fmla="val 10256"/>
            </a:avLst>
          </a:prstGeom>
          <a:solidFill>
            <a:srgbClr val="EEF2F6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61" name="Architecture has compute, data, storage, security, monitoring"/>
          <p:cNvSpPr txBox="1"/>
          <p:nvPr/>
        </p:nvSpPr>
        <p:spPr>
          <a:xfrm>
            <a:off x="1626869" y="3924300"/>
            <a:ext cx="3718562" cy="46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 b="1">
                <a:solidFill>
                  <a:srgbClr val="172033"/>
                </a:solidFill>
              </a:defRPr>
            </a:lvl1pPr>
          </a:lstStyle>
          <a:p>
            <a:r>
              <a:t>Architecture has compute, data, storage, security, monitoring</a:t>
            </a:r>
          </a:p>
        </p:txBody>
      </p:sp>
      <p:sp>
        <p:nvSpPr>
          <p:cNvPr id="362" name="check-3"/>
          <p:cNvSpPr/>
          <p:nvPr/>
        </p:nvSpPr>
        <p:spPr>
          <a:xfrm>
            <a:off x="6572250" y="1619250"/>
            <a:ext cx="47625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64" name="Elasticity and scalability decisions are visible"/>
          <p:cNvSpPr txBox="1"/>
          <p:nvPr/>
        </p:nvSpPr>
        <p:spPr>
          <a:xfrm>
            <a:off x="7246619" y="1790700"/>
            <a:ext cx="37185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 b="1">
                <a:solidFill>
                  <a:srgbClr val="172033"/>
                </a:solidFill>
              </a:defRPr>
            </a:lvl1pPr>
          </a:lstStyle>
          <a:p>
            <a:r>
              <a:t>Elasticity and scalability decisions are visible</a:t>
            </a:r>
          </a:p>
        </p:txBody>
      </p:sp>
      <p:sp>
        <p:nvSpPr>
          <p:cNvPr id="365" name="check-4"/>
          <p:cNvSpPr/>
          <p:nvPr/>
        </p:nvSpPr>
        <p:spPr>
          <a:xfrm>
            <a:off x="6572250" y="2686050"/>
            <a:ext cx="4762500" cy="742950"/>
          </a:xfrm>
          <a:prstGeom prst="roundRect">
            <a:avLst>
              <a:gd name="adj" fmla="val 10256"/>
            </a:avLst>
          </a:prstGeom>
          <a:solidFill>
            <a:srgbClr val="EEF2F6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67" name="GitHub and cloud evidence are inspectable"/>
          <p:cNvSpPr txBox="1"/>
          <p:nvPr/>
        </p:nvSpPr>
        <p:spPr>
          <a:xfrm>
            <a:off x="7246619" y="2857500"/>
            <a:ext cx="37185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 b="1">
                <a:solidFill>
                  <a:srgbClr val="172033"/>
                </a:solidFill>
              </a:defRPr>
            </a:lvl1pPr>
          </a:lstStyle>
          <a:p>
            <a:r>
              <a:t>GitHub and cloud evidence are inspectable</a:t>
            </a:r>
          </a:p>
        </p:txBody>
      </p:sp>
      <p:sp>
        <p:nvSpPr>
          <p:cNvPr id="368" name="check-5"/>
          <p:cNvSpPr/>
          <p:nvPr/>
        </p:nvSpPr>
        <p:spPr>
          <a:xfrm>
            <a:off x="6572250" y="3752850"/>
            <a:ext cx="47625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70" name="References and integrity statement are included"/>
          <p:cNvSpPr txBox="1"/>
          <p:nvPr/>
        </p:nvSpPr>
        <p:spPr>
          <a:xfrm>
            <a:off x="7246619" y="3924300"/>
            <a:ext cx="37185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 b="1">
                <a:solidFill>
                  <a:srgbClr val="172033"/>
                </a:solidFill>
              </a:defRPr>
            </a:lvl1pPr>
          </a:lstStyle>
          <a:p>
            <a:r>
              <a:t>References and integrity statement are included</a:t>
            </a:r>
          </a:p>
        </p:txBody>
      </p:sp>
      <p:sp>
        <p:nvSpPr>
          <p:cNvPr id="371" name="Evaluator Focus-panel"/>
          <p:cNvSpPr/>
          <p:nvPr/>
        </p:nvSpPr>
        <p:spPr>
          <a:xfrm>
            <a:off x="2095500" y="4953000"/>
            <a:ext cx="8001000" cy="704850"/>
          </a:xfrm>
          <a:prstGeom prst="roundRect">
            <a:avLst>
              <a:gd name="adj" fmla="val 10811"/>
            </a:avLst>
          </a:prstGeom>
          <a:solidFill>
            <a:srgbClr val="E8F1F8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72" name="Evaluator Focus-bar"/>
          <p:cNvSpPr/>
          <p:nvPr/>
        </p:nvSpPr>
        <p:spPr>
          <a:xfrm>
            <a:off x="2095500" y="4953000"/>
            <a:ext cx="8001000" cy="762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73" name="Evaluator Focus"/>
          <p:cNvSpPr txBox="1"/>
          <p:nvPr/>
        </p:nvSpPr>
        <p:spPr>
          <a:xfrm>
            <a:off x="2312669" y="5143500"/>
            <a:ext cx="75666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Evaluator Focus</a:t>
            </a:r>
          </a:p>
        </p:txBody>
      </p:sp>
      <p:sp>
        <p:nvSpPr>
          <p:cNvPr id="374" name="CO1 is verified through cloud design reasoning, service choices, evidence, and individual explanation."/>
          <p:cNvSpPr txBox="1"/>
          <p:nvPr/>
        </p:nvSpPr>
        <p:spPr>
          <a:xfrm>
            <a:off x="2312669" y="5524500"/>
            <a:ext cx="7566662" cy="292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172033"/>
                </a:solidFill>
              </a:defRPr>
            </a:lvl1pPr>
          </a:lstStyle>
          <a:p>
            <a:r>
              <a:rPr lang="en-IN" dirty="0"/>
              <a:t>Cloud Computing concepts, Firebase cloud services, REST API communication, Safe route generation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8353B3-760A-8310-3ED2-979EBDA1D9C1}"/>
              </a:ext>
            </a:extLst>
          </p:cNvPr>
          <p:cNvSpPr txBox="1"/>
          <p:nvPr/>
        </p:nvSpPr>
        <p:spPr>
          <a:xfrm>
            <a:off x="1143771" y="2888218"/>
            <a:ext cx="4761729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dirty="0"/>
              <a:t>☑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A0A2E0-F58F-3180-9AEA-0DCD5E449928}"/>
              </a:ext>
            </a:extLst>
          </p:cNvPr>
          <p:cNvSpPr txBox="1"/>
          <p:nvPr/>
        </p:nvSpPr>
        <p:spPr>
          <a:xfrm>
            <a:off x="1150619" y="3986619"/>
            <a:ext cx="5052062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dirty="0"/>
              <a:t>☑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92857B-B806-27D2-A2F7-8D48F24CA5B5}"/>
              </a:ext>
            </a:extLst>
          </p:cNvPr>
          <p:cNvSpPr txBox="1"/>
          <p:nvPr/>
        </p:nvSpPr>
        <p:spPr>
          <a:xfrm>
            <a:off x="1143771" y="1821418"/>
            <a:ext cx="4856337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dirty="0"/>
              <a:t>☑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128E20-73BD-6405-151E-A76199EA9203}"/>
              </a:ext>
            </a:extLst>
          </p:cNvPr>
          <p:cNvSpPr txBox="1"/>
          <p:nvPr/>
        </p:nvSpPr>
        <p:spPr>
          <a:xfrm>
            <a:off x="6762750" y="3874011"/>
            <a:ext cx="6102848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dirty="0"/>
              <a:t>☑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A0FA5F-7246-3F97-8E16-02FC2DCB01A7}"/>
              </a:ext>
            </a:extLst>
          </p:cNvPr>
          <p:cNvSpPr txBox="1"/>
          <p:nvPr/>
        </p:nvSpPr>
        <p:spPr>
          <a:xfrm>
            <a:off x="6762750" y="2919491"/>
            <a:ext cx="6431622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dirty="0"/>
              <a:t>☑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706D76-8F8F-A1FD-8EA8-470D023EEB4A}"/>
              </a:ext>
            </a:extLst>
          </p:cNvPr>
          <p:cNvSpPr txBox="1"/>
          <p:nvPr/>
        </p:nvSpPr>
        <p:spPr>
          <a:xfrm>
            <a:off x="6759840" y="1831501"/>
            <a:ext cx="6596008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dirty="0"/>
              <a:t>☑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81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382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383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384" name="CO1 AT3 | 12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12</a:t>
            </a:r>
          </a:p>
        </p:txBody>
      </p:sp>
      <p:sp>
        <p:nvSpPr>
          <p:cNvPr id="385" name="slide-title"/>
          <p:cNvSpPr txBox="1"/>
          <p:nvPr/>
        </p:nvSpPr>
        <p:spPr>
          <a:xfrm>
            <a:off x="655319" y="723900"/>
            <a:ext cx="1088136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rgbClr val="1F4E79"/>
                </a:solidFill>
              </a:defRPr>
            </a:lvl1pPr>
          </a:lstStyle>
          <a:p>
            <a:r>
              <a:t>Conclusion, Limitations and Future Scope</a:t>
            </a:r>
          </a:p>
        </p:txBody>
      </p:sp>
      <p:sp>
        <p:nvSpPr>
          <p:cNvPr id="386" name="slide-subtitle"/>
          <p:cNvSpPr txBox="1"/>
          <p:nvPr/>
        </p:nvSpPr>
        <p:spPr>
          <a:xfrm>
            <a:off x="655319" y="1162050"/>
            <a:ext cx="10881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4155"/>
                </a:solidFill>
              </a:defRPr>
            </a:lvl1pPr>
          </a:lstStyle>
          <a:p>
            <a:r>
              <a:t>We close with learning, limitations and next steps</a:t>
            </a:r>
          </a:p>
        </p:txBody>
      </p:sp>
      <p:sp>
        <p:nvSpPr>
          <p:cNvPr id="387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388" name="section-0"/>
          <p:cNvSpPr/>
          <p:nvPr/>
        </p:nvSpPr>
        <p:spPr>
          <a:xfrm>
            <a:off x="7239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89" name="section-accent-0"/>
          <p:cNvSpPr/>
          <p:nvPr/>
        </p:nvSpPr>
        <p:spPr>
          <a:xfrm>
            <a:off x="723900" y="1600200"/>
            <a:ext cx="57150" cy="12573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90" name="Learning Outcome"/>
          <p:cNvSpPr txBox="1"/>
          <p:nvPr/>
        </p:nvSpPr>
        <p:spPr>
          <a:xfrm>
            <a:off x="998219" y="17907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Learning Outcome</a:t>
            </a:r>
          </a:p>
        </p:txBody>
      </p:sp>
      <p:sp>
        <p:nvSpPr>
          <p:cNvPr id="391" name="What cloud concepts did the project make clear?"/>
          <p:cNvSpPr txBox="1"/>
          <p:nvPr/>
        </p:nvSpPr>
        <p:spPr>
          <a:xfrm>
            <a:off x="998219" y="2190750"/>
            <a:ext cx="4099562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IN" dirty="0"/>
              <a:t>Cloud Computing, Firebase Services, Google Maps API, Python Integration</a:t>
            </a:r>
            <a:endParaRPr dirty="0"/>
          </a:p>
        </p:txBody>
      </p:sp>
      <p:sp>
        <p:nvSpPr>
          <p:cNvPr id="392" name="section-1"/>
          <p:cNvSpPr/>
          <p:nvPr/>
        </p:nvSpPr>
        <p:spPr>
          <a:xfrm>
            <a:off x="61341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 dirty="0"/>
          </a:p>
        </p:txBody>
      </p:sp>
      <p:sp>
        <p:nvSpPr>
          <p:cNvPr id="393" name="section-accent-1"/>
          <p:cNvSpPr/>
          <p:nvPr/>
        </p:nvSpPr>
        <p:spPr>
          <a:xfrm>
            <a:off x="6134100" y="1600200"/>
            <a:ext cx="57150" cy="12573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94" name="Limitations"/>
          <p:cNvSpPr txBox="1"/>
          <p:nvPr/>
        </p:nvSpPr>
        <p:spPr>
          <a:xfrm>
            <a:off x="6408419" y="17907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Limitations</a:t>
            </a:r>
          </a:p>
        </p:txBody>
      </p:sp>
      <p:sp>
        <p:nvSpPr>
          <p:cNvPr id="395" name="What remains incomplete or needs improvement?"/>
          <p:cNvSpPr txBox="1"/>
          <p:nvPr/>
        </p:nvSpPr>
        <p:spPr>
          <a:xfrm>
            <a:off x="6408419" y="2190750"/>
            <a:ext cx="4099562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IN" dirty="0"/>
              <a:t>Depends on Internet, Limited crowd reports in new areas, Google Maps API usage limits</a:t>
            </a:r>
            <a:endParaRPr dirty="0"/>
          </a:p>
        </p:txBody>
      </p:sp>
      <p:sp>
        <p:nvSpPr>
          <p:cNvPr id="396" name="section-2"/>
          <p:cNvSpPr/>
          <p:nvPr/>
        </p:nvSpPr>
        <p:spPr>
          <a:xfrm>
            <a:off x="7239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97" name="section-accent-2"/>
          <p:cNvSpPr/>
          <p:nvPr/>
        </p:nvSpPr>
        <p:spPr>
          <a:xfrm>
            <a:off x="723900" y="3238500"/>
            <a:ext cx="57150" cy="1257300"/>
          </a:xfrm>
          <a:prstGeom prst="rect">
            <a:avLst/>
          </a:prstGeom>
          <a:solidFill>
            <a:srgbClr val="466A8F"/>
          </a:solidFill>
          <a:ln>
            <a:solidFill>
              <a:srgbClr val="466A8F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98" name="Future Improvement"/>
          <p:cNvSpPr txBox="1"/>
          <p:nvPr/>
        </p:nvSpPr>
        <p:spPr>
          <a:xfrm>
            <a:off x="998219" y="34290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Future Improvement</a:t>
            </a:r>
          </a:p>
        </p:txBody>
      </p:sp>
      <p:sp>
        <p:nvSpPr>
          <p:cNvPr id="399" name="What will be improved before final capstone review?"/>
          <p:cNvSpPr txBox="1"/>
          <p:nvPr/>
        </p:nvSpPr>
        <p:spPr>
          <a:xfrm>
            <a:off x="998219" y="3829050"/>
            <a:ext cx="4099562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IN" dirty="0"/>
              <a:t>AI Crime Prediction, IoT Emergency Devices, Smart City Integration, Voice Navigation, SOS Emergency Alerts</a:t>
            </a:r>
            <a:endParaRPr dirty="0"/>
          </a:p>
        </p:txBody>
      </p:sp>
      <p:sp>
        <p:nvSpPr>
          <p:cNvPr id="400" name="section-3"/>
          <p:cNvSpPr/>
          <p:nvPr/>
        </p:nvSpPr>
        <p:spPr>
          <a:xfrm>
            <a:off x="61341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401" name="section-accent-3"/>
          <p:cNvSpPr/>
          <p:nvPr/>
        </p:nvSpPr>
        <p:spPr>
          <a:xfrm>
            <a:off x="6134100" y="3238500"/>
            <a:ext cx="57150" cy="1257300"/>
          </a:xfrm>
          <a:prstGeom prst="rect">
            <a:avLst/>
          </a:prstGeom>
          <a:solidFill>
            <a:srgbClr val="7C95AD"/>
          </a:solidFill>
          <a:ln>
            <a:solidFill>
              <a:srgbClr val="7C95AD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2" name="Integrity Statement"/>
          <p:cNvSpPr txBox="1"/>
          <p:nvPr/>
        </p:nvSpPr>
        <p:spPr>
          <a:xfrm>
            <a:off x="6408419" y="34290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Integrity Statement</a:t>
            </a:r>
          </a:p>
        </p:txBody>
      </p:sp>
      <p:sp>
        <p:nvSpPr>
          <p:cNvPr id="403" name="Mention sources, tools, datasets, and any AI assistance acknowledged."/>
          <p:cNvSpPr txBox="1"/>
          <p:nvPr/>
        </p:nvSpPr>
        <p:spPr>
          <a:xfrm>
            <a:off x="6408419" y="3829050"/>
            <a:ext cx="4099562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rPr lang="en-IN" dirty="0"/>
              <a:t>Google Maps API Documentation ,Firebase Documentation ,Google Cloud Platform</a:t>
            </a:r>
            <a:endParaRPr dirty="0"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1527</Words>
  <Application>Microsoft Office PowerPoint</Application>
  <PresentationFormat>Widescreen</PresentationFormat>
  <Paragraphs>273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Calibri</vt:lpstr>
      <vt:lpstr>Calibri Light</vt:lpstr>
      <vt:lpstr>Helvetica Neue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Sujith Reddy</dc:creator>
  <cp:lastModifiedBy>Sujith Reddy</cp:lastModifiedBy>
  <cp:revision>3</cp:revision>
  <dcterms:modified xsi:type="dcterms:W3CDTF">2026-07-22T03:22:40Z</dcterms:modified>
</cp:coreProperties>
</file>